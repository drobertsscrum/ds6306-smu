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15"/>
  </p:notesMasterIdLst>
  <p:sldIdLst>
    <p:sldId id="256" r:id="rId2"/>
    <p:sldId id="260" r:id="rId3"/>
    <p:sldId id="454" r:id="rId4"/>
    <p:sldId id="461" r:id="rId5"/>
    <p:sldId id="462" r:id="rId6"/>
    <p:sldId id="463" r:id="rId7"/>
    <p:sldId id="464" r:id="rId8"/>
    <p:sldId id="465" r:id="rId9"/>
    <p:sldId id="466" r:id="rId10"/>
    <p:sldId id="467" r:id="rId11"/>
    <p:sldId id="468" r:id="rId12"/>
    <p:sldId id="257" r:id="rId13"/>
    <p:sldId id="258" r:id="rId14"/>
  </p:sldIdLst>
  <p:sldSz cx="11826875" cy="7132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7" userDrawn="1">
          <p15:clr>
            <a:srgbClr val="A4A3A4"/>
          </p15:clr>
        </p15:guide>
        <p15:guide id="2" pos="372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72"/>
    <p:restoredTop sz="94694"/>
  </p:normalViewPr>
  <p:slideViewPr>
    <p:cSldViewPr snapToGrid="0" snapToObjects="1">
      <p:cViewPr varScale="1">
        <p:scale>
          <a:sx n="103" d="100"/>
          <a:sy n="103" d="100"/>
        </p:scale>
        <p:origin x="1336" y="480"/>
      </p:cViewPr>
      <p:guideLst>
        <p:guide orient="horz" pos="2247"/>
        <p:guide pos="372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23A2-B15F-9947-87E4-7E419A413A7D}" type="datetimeFigureOut">
              <a:rPr lang="en-US" smtClean="0"/>
              <a:t>1/12/26</a:t>
            </a:fld>
            <a:endParaRPr lang="en-US"/>
          </a:p>
        </p:txBody>
      </p:sp>
      <p:sp>
        <p:nvSpPr>
          <p:cNvPr id="4" name="Slide Image Placeholder 3"/>
          <p:cNvSpPr>
            <a:spLocks noGrp="1" noRot="1" noChangeAspect="1"/>
          </p:cNvSpPr>
          <p:nvPr>
            <p:ph type="sldImg" idx="2"/>
          </p:nvPr>
        </p:nvSpPr>
        <p:spPr>
          <a:xfrm>
            <a:off x="869950" y="1143000"/>
            <a:ext cx="5118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09A75C-E94F-E645-9A02-8F6F42764BB1}" type="slidenum">
              <a:rPr lang="en-US" smtClean="0"/>
              <a:t>‹#›</a:t>
            </a:fld>
            <a:endParaRPr lang="en-US"/>
          </a:p>
        </p:txBody>
      </p:sp>
    </p:spTree>
    <p:extLst>
      <p:ext uri="{BB962C8B-B14F-4D97-AF65-F5344CB8AC3E}">
        <p14:creationId xmlns:p14="http://schemas.microsoft.com/office/powerpoint/2010/main" val="1934816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09A75C-E94F-E645-9A02-8F6F42764BB1}" type="slidenum">
              <a:rPr lang="en-US" smtClean="0"/>
              <a:t>2</a:t>
            </a:fld>
            <a:endParaRPr lang="en-US"/>
          </a:p>
        </p:txBody>
      </p:sp>
    </p:spTree>
    <p:extLst>
      <p:ext uri="{BB962C8B-B14F-4D97-AF65-F5344CB8AC3E}">
        <p14:creationId xmlns:p14="http://schemas.microsoft.com/office/powerpoint/2010/main" val="3180579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09A75C-E94F-E645-9A02-8F6F42764BB1}" type="slidenum">
              <a:rPr lang="en-US" smtClean="0"/>
              <a:t>3</a:t>
            </a:fld>
            <a:endParaRPr lang="en-US"/>
          </a:p>
        </p:txBody>
      </p:sp>
    </p:spTree>
    <p:extLst>
      <p:ext uri="{BB962C8B-B14F-4D97-AF65-F5344CB8AC3E}">
        <p14:creationId xmlns:p14="http://schemas.microsoft.com/office/powerpoint/2010/main" val="438599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F7D6-2576-E180-332F-1C0097191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B5BB6-69DE-90C5-DE20-32CB958E62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DD4C6E-12D3-F986-C983-03AC0E55B4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424AB0-B8D4-BC80-2069-851883AB8CF2}"/>
              </a:ext>
            </a:extLst>
          </p:cNvPr>
          <p:cNvSpPr>
            <a:spLocks noGrp="1"/>
          </p:cNvSpPr>
          <p:nvPr>
            <p:ph type="sldNum" sz="quarter" idx="5"/>
          </p:nvPr>
        </p:nvSpPr>
        <p:spPr/>
        <p:txBody>
          <a:bodyPr/>
          <a:lstStyle/>
          <a:p>
            <a:fld id="{FC09A75C-E94F-E645-9A02-8F6F42764BB1}" type="slidenum">
              <a:rPr lang="en-US" smtClean="0"/>
              <a:t>4</a:t>
            </a:fld>
            <a:endParaRPr lang="en-US"/>
          </a:p>
        </p:txBody>
      </p:sp>
    </p:spTree>
    <p:extLst>
      <p:ext uri="{BB962C8B-B14F-4D97-AF65-F5344CB8AC3E}">
        <p14:creationId xmlns:p14="http://schemas.microsoft.com/office/powerpoint/2010/main" val="1747246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DC88E-C820-E92D-2A8E-9C93BF6057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099AB-1178-439A-4EC2-ECD8FEDE667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1EEFA4-13A0-58E8-2159-C9FB7A84EF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2E220-E2AA-72F0-77BC-8BAB3347A8B2}"/>
              </a:ext>
            </a:extLst>
          </p:cNvPr>
          <p:cNvSpPr>
            <a:spLocks noGrp="1"/>
          </p:cNvSpPr>
          <p:nvPr>
            <p:ph type="sldNum" sz="quarter" idx="5"/>
          </p:nvPr>
        </p:nvSpPr>
        <p:spPr/>
        <p:txBody>
          <a:bodyPr/>
          <a:lstStyle/>
          <a:p>
            <a:fld id="{FC09A75C-E94F-E645-9A02-8F6F42764BB1}" type="slidenum">
              <a:rPr lang="en-US" smtClean="0"/>
              <a:t>5</a:t>
            </a:fld>
            <a:endParaRPr lang="en-US"/>
          </a:p>
        </p:txBody>
      </p:sp>
    </p:spTree>
    <p:extLst>
      <p:ext uri="{BB962C8B-B14F-4D97-AF65-F5344CB8AC3E}">
        <p14:creationId xmlns:p14="http://schemas.microsoft.com/office/powerpoint/2010/main" val="4082207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D790A-4BEC-4097-F7AF-CB5A7039B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C5994-76D6-52C0-6E8D-6541352EA2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E61ABF-B1A1-9303-B5D5-F0C3DFDBD5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43FDF7-9003-E99B-A57F-D01F00DF1BE3}"/>
              </a:ext>
            </a:extLst>
          </p:cNvPr>
          <p:cNvSpPr>
            <a:spLocks noGrp="1"/>
          </p:cNvSpPr>
          <p:nvPr>
            <p:ph type="sldNum" sz="quarter" idx="5"/>
          </p:nvPr>
        </p:nvSpPr>
        <p:spPr/>
        <p:txBody>
          <a:bodyPr/>
          <a:lstStyle/>
          <a:p>
            <a:fld id="{FC09A75C-E94F-E645-9A02-8F6F42764BB1}" type="slidenum">
              <a:rPr lang="en-US" smtClean="0"/>
              <a:t>6</a:t>
            </a:fld>
            <a:endParaRPr lang="en-US"/>
          </a:p>
        </p:txBody>
      </p:sp>
    </p:spTree>
    <p:extLst>
      <p:ext uri="{BB962C8B-B14F-4D97-AF65-F5344CB8AC3E}">
        <p14:creationId xmlns:p14="http://schemas.microsoft.com/office/powerpoint/2010/main" val="1649458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9DF9C-C04F-4891-46F3-567467816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720B0-1A1F-15CE-C487-640A59B7D47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2EC810-AC1F-E00B-35F7-F73CCA65FD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441899-C6FE-4B1E-F219-7E5B86DCF741}"/>
              </a:ext>
            </a:extLst>
          </p:cNvPr>
          <p:cNvSpPr>
            <a:spLocks noGrp="1"/>
          </p:cNvSpPr>
          <p:nvPr>
            <p:ph type="sldNum" sz="quarter" idx="5"/>
          </p:nvPr>
        </p:nvSpPr>
        <p:spPr/>
        <p:txBody>
          <a:bodyPr/>
          <a:lstStyle/>
          <a:p>
            <a:fld id="{FC09A75C-E94F-E645-9A02-8F6F42764BB1}" type="slidenum">
              <a:rPr lang="en-US" smtClean="0"/>
              <a:t>7</a:t>
            </a:fld>
            <a:endParaRPr lang="en-US"/>
          </a:p>
        </p:txBody>
      </p:sp>
    </p:spTree>
    <p:extLst>
      <p:ext uri="{BB962C8B-B14F-4D97-AF65-F5344CB8AC3E}">
        <p14:creationId xmlns:p14="http://schemas.microsoft.com/office/powerpoint/2010/main" val="1557206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B0608-1638-502F-4397-FB2A89CC2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A488E-7284-3375-AE63-0173083215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7F4FB3-3D16-E529-E9BA-63BEB4541D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C4166-2489-EAC8-7970-94409B7F60A4}"/>
              </a:ext>
            </a:extLst>
          </p:cNvPr>
          <p:cNvSpPr>
            <a:spLocks noGrp="1"/>
          </p:cNvSpPr>
          <p:nvPr>
            <p:ph type="sldNum" sz="quarter" idx="5"/>
          </p:nvPr>
        </p:nvSpPr>
        <p:spPr/>
        <p:txBody>
          <a:bodyPr/>
          <a:lstStyle/>
          <a:p>
            <a:fld id="{FC09A75C-E94F-E645-9A02-8F6F42764BB1}" type="slidenum">
              <a:rPr lang="en-US" smtClean="0"/>
              <a:t>8</a:t>
            </a:fld>
            <a:endParaRPr lang="en-US"/>
          </a:p>
        </p:txBody>
      </p:sp>
    </p:spTree>
    <p:extLst>
      <p:ext uri="{BB962C8B-B14F-4D97-AF65-F5344CB8AC3E}">
        <p14:creationId xmlns:p14="http://schemas.microsoft.com/office/powerpoint/2010/main" val="3590443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42A2-6F9B-6FE2-F262-77DAF68D3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92385-DF54-08CA-0978-024385E914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9CFF9F-89F3-A304-FC37-CF8E5D76FB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CDA0CD-FB0C-0DA7-A968-0EE47B78D1A6}"/>
              </a:ext>
            </a:extLst>
          </p:cNvPr>
          <p:cNvSpPr>
            <a:spLocks noGrp="1"/>
          </p:cNvSpPr>
          <p:nvPr>
            <p:ph type="sldNum" sz="quarter" idx="5"/>
          </p:nvPr>
        </p:nvSpPr>
        <p:spPr/>
        <p:txBody>
          <a:bodyPr/>
          <a:lstStyle/>
          <a:p>
            <a:fld id="{FC09A75C-E94F-E645-9A02-8F6F42764BB1}" type="slidenum">
              <a:rPr lang="en-US" smtClean="0"/>
              <a:t>9</a:t>
            </a:fld>
            <a:endParaRPr lang="en-US"/>
          </a:p>
        </p:txBody>
      </p:sp>
    </p:spTree>
    <p:extLst>
      <p:ext uri="{BB962C8B-B14F-4D97-AF65-F5344CB8AC3E}">
        <p14:creationId xmlns:p14="http://schemas.microsoft.com/office/powerpoint/2010/main" val="1467098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3844-2CDC-1D30-AFB0-87DB61DBB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8B17F-D24D-04A0-9726-0B401FF83B7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0E139D5-D66E-D22F-88E9-0D4115A0B2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03F77-C77A-7778-C72D-FC3041877351}"/>
              </a:ext>
            </a:extLst>
          </p:cNvPr>
          <p:cNvSpPr>
            <a:spLocks noGrp="1"/>
          </p:cNvSpPr>
          <p:nvPr>
            <p:ph type="sldNum" sz="quarter" idx="5"/>
          </p:nvPr>
        </p:nvSpPr>
        <p:spPr/>
        <p:txBody>
          <a:bodyPr/>
          <a:lstStyle/>
          <a:p>
            <a:fld id="{FC09A75C-E94F-E645-9A02-8F6F42764BB1}" type="slidenum">
              <a:rPr lang="en-US" smtClean="0"/>
              <a:t>10</a:t>
            </a:fld>
            <a:endParaRPr lang="en-US"/>
          </a:p>
        </p:txBody>
      </p:sp>
    </p:spTree>
    <p:extLst>
      <p:ext uri="{BB962C8B-B14F-4D97-AF65-F5344CB8AC3E}">
        <p14:creationId xmlns:p14="http://schemas.microsoft.com/office/powerpoint/2010/main" val="239102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A9E19-81AD-DFCC-C859-2972E7267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901F8-5E8F-38EE-450A-9083DBE6CB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C377A8-28F0-2D4D-AAF9-8538713478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670168-0393-0BEA-5CB6-0A717C2CAB4D}"/>
              </a:ext>
            </a:extLst>
          </p:cNvPr>
          <p:cNvSpPr>
            <a:spLocks noGrp="1"/>
          </p:cNvSpPr>
          <p:nvPr>
            <p:ph type="sldNum" sz="quarter" idx="5"/>
          </p:nvPr>
        </p:nvSpPr>
        <p:spPr/>
        <p:txBody>
          <a:bodyPr/>
          <a:lstStyle/>
          <a:p>
            <a:fld id="{FC09A75C-E94F-E645-9A02-8F6F42764BB1}" type="slidenum">
              <a:rPr lang="en-US" smtClean="0"/>
              <a:t>11</a:t>
            </a:fld>
            <a:endParaRPr lang="en-US"/>
          </a:p>
        </p:txBody>
      </p:sp>
    </p:spTree>
    <p:extLst>
      <p:ext uri="{BB962C8B-B14F-4D97-AF65-F5344CB8AC3E}">
        <p14:creationId xmlns:p14="http://schemas.microsoft.com/office/powerpoint/2010/main" val="1542721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09A75C-E94F-E645-9A02-8F6F42764BB1}" type="slidenum">
              <a:rPr lang="en-US" smtClean="0"/>
              <a:t>13</a:t>
            </a:fld>
            <a:endParaRPr lang="en-US"/>
          </a:p>
        </p:txBody>
      </p:sp>
    </p:spTree>
    <p:extLst>
      <p:ext uri="{BB962C8B-B14F-4D97-AF65-F5344CB8AC3E}">
        <p14:creationId xmlns:p14="http://schemas.microsoft.com/office/powerpoint/2010/main" val="149239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57774" y="1860075"/>
            <a:ext cx="8110828" cy="2182252"/>
          </a:xfrm>
        </p:spPr>
        <p:txBody>
          <a:bodyPr anchor="b">
            <a:noAutofit/>
          </a:bodyPr>
          <a:lstStyle>
            <a:lvl1pPr algn="ctr">
              <a:defRPr sz="6985"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599649" y="4114714"/>
            <a:ext cx="6627079" cy="1129737"/>
          </a:xfrm>
        </p:spPr>
        <p:txBody>
          <a:bodyPr>
            <a:normAutofit/>
          </a:bodyPr>
          <a:lstStyle>
            <a:lvl1pPr marL="0" indent="0" algn="ctr">
              <a:lnSpc>
                <a:spcPct val="112000"/>
              </a:lnSpc>
              <a:spcBef>
                <a:spcPts val="0"/>
              </a:spcBef>
              <a:spcAft>
                <a:spcPts val="0"/>
              </a:spcAft>
              <a:buNone/>
              <a:defRPr sz="2231"/>
            </a:lvl1pPr>
            <a:lvl2pPr marL="443530" indent="0" algn="ctr">
              <a:buNone/>
              <a:defRPr sz="1940"/>
            </a:lvl2pPr>
            <a:lvl3pPr marL="887059" indent="0" algn="ctr">
              <a:buNone/>
              <a:defRPr sz="1746"/>
            </a:lvl3pPr>
            <a:lvl4pPr marL="1330589" indent="0" algn="ctr">
              <a:buNone/>
              <a:defRPr sz="1552"/>
            </a:lvl4pPr>
            <a:lvl5pPr marL="1774119" indent="0" algn="ctr">
              <a:buNone/>
              <a:defRPr sz="1552"/>
            </a:lvl5pPr>
            <a:lvl6pPr marL="2217649" indent="0" algn="ctr">
              <a:buNone/>
              <a:defRPr sz="1552"/>
            </a:lvl6pPr>
            <a:lvl7pPr marL="2661178" indent="0" algn="ctr">
              <a:buNone/>
              <a:defRPr sz="1552"/>
            </a:lvl7pPr>
            <a:lvl8pPr marL="3104708" indent="0" algn="ctr">
              <a:buNone/>
              <a:defRPr sz="1552"/>
            </a:lvl8pPr>
            <a:lvl9pPr marL="3548238" indent="0" algn="ctr">
              <a:buNone/>
              <a:defRPr sz="1552"/>
            </a:lvl9pPr>
          </a:lstStyle>
          <a:p>
            <a:r>
              <a:rPr lang="en-US"/>
              <a:t>Click to edit Master subtitle style</a:t>
            </a:r>
            <a:endParaRPr lang="en-US" dirty="0"/>
          </a:p>
        </p:txBody>
      </p:sp>
      <p:sp>
        <p:nvSpPr>
          <p:cNvPr id="4" name="Date Placeholder 3"/>
          <p:cNvSpPr>
            <a:spLocks noGrp="1"/>
          </p:cNvSpPr>
          <p:nvPr>
            <p:ph type="dt" sz="half" idx="10"/>
          </p:nvPr>
        </p:nvSpPr>
        <p:spPr>
          <a:xfrm>
            <a:off x="730312" y="6711821"/>
            <a:ext cx="1559789" cy="420817"/>
          </a:xfrm>
        </p:spPr>
        <p:txBody>
          <a:bodyPr/>
          <a:lstStyle>
            <a:lvl1pPr>
              <a:defRPr baseline="0">
                <a:solidFill>
                  <a:schemeClr val="tx2"/>
                </a:solidFill>
              </a:defRPr>
            </a:lvl1pPr>
          </a:lstStyle>
          <a:p>
            <a:fld id="{F871892F-5B10-E649-ACB5-75A0997D6E78}" type="datetimeFigureOut">
              <a:rPr lang="en-US" smtClean="0"/>
              <a:t>1/12/26</a:t>
            </a:fld>
            <a:endParaRPr lang="en-US"/>
          </a:p>
        </p:txBody>
      </p:sp>
      <p:sp>
        <p:nvSpPr>
          <p:cNvPr id="5" name="Footer Placeholder 4"/>
          <p:cNvSpPr>
            <a:spLocks noGrp="1"/>
          </p:cNvSpPr>
          <p:nvPr>
            <p:ph type="ftr" sz="quarter" idx="11"/>
          </p:nvPr>
        </p:nvSpPr>
        <p:spPr>
          <a:xfrm>
            <a:off x="2506668" y="6711821"/>
            <a:ext cx="6813041" cy="420817"/>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536275" y="6711821"/>
            <a:ext cx="1548486" cy="420817"/>
          </a:xfrm>
        </p:spPr>
        <p:txBody>
          <a:bodyPr/>
          <a:lstStyle>
            <a:lvl1pPr>
              <a:defRPr baseline="0">
                <a:solidFill>
                  <a:schemeClr val="tx2"/>
                </a:solidFill>
              </a:defRPr>
            </a:lvl1pPr>
          </a:lstStyle>
          <a:p>
            <a:fld id="{D33B04A4-5C52-194C-AAE0-3B2E88AABDBE}" type="slidenum">
              <a:rPr lang="en-US" smtClean="0"/>
              <a:t>‹#›</a:t>
            </a:fld>
            <a:endParaRPr lang="en-US"/>
          </a:p>
        </p:txBody>
      </p:sp>
      <p:grpSp>
        <p:nvGrpSpPr>
          <p:cNvPr id="7" name="Group 6"/>
          <p:cNvGrpSpPr/>
          <p:nvPr/>
        </p:nvGrpSpPr>
        <p:grpSpPr>
          <a:xfrm>
            <a:off x="730312" y="774283"/>
            <a:ext cx="10354449" cy="5563906"/>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92979290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71892F-5B10-E649-ACB5-75A0997D6E78}"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645508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42114" y="1353475"/>
            <a:ext cx="9325083" cy="2966979"/>
          </a:xfrm>
        </p:spPr>
        <p:txBody>
          <a:bodyPr anchor="b">
            <a:normAutofit/>
          </a:bodyPr>
          <a:lstStyle>
            <a:lvl1pPr algn="r">
              <a:defRPr sz="6985"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42114" y="4385177"/>
            <a:ext cx="9325083" cy="1189110"/>
          </a:xfrm>
        </p:spPr>
        <p:txBody>
          <a:bodyPr/>
          <a:lstStyle>
            <a:lvl1pPr marL="0" indent="0" algn="r">
              <a:lnSpc>
                <a:spcPct val="112000"/>
              </a:lnSpc>
              <a:spcBef>
                <a:spcPts val="0"/>
              </a:spcBef>
              <a:spcAft>
                <a:spcPts val="0"/>
              </a:spcAft>
              <a:buNone/>
              <a:defRPr sz="2328">
                <a:solidFill>
                  <a:schemeClr val="tx2"/>
                </a:solidFill>
              </a:defRPr>
            </a:lvl1pPr>
            <a:lvl2pPr marL="443530" indent="0">
              <a:buNone/>
              <a:defRPr sz="1940">
                <a:solidFill>
                  <a:schemeClr val="tx1">
                    <a:tint val="75000"/>
                  </a:schemeClr>
                </a:solidFill>
              </a:defRPr>
            </a:lvl2pPr>
            <a:lvl3pPr marL="887059" indent="0">
              <a:buNone/>
              <a:defRPr sz="1746">
                <a:solidFill>
                  <a:schemeClr val="tx1">
                    <a:tint val="75000"/>
                  </a:schemeClr>
                </a:solidFill>
              </a:defRPr>
            </a:lvl3pPr>
            <a:lvl4pPr marL="1330589" indent="0">
              <a:buNone/>
              <a:defRPr sz="1552">
                <a:solidFill>
                  <a:schemeClr val="tx1">
                    <a:tint val="75000"/>
                  </a:schemeClr>
                </a:solidFill>
              </a:defRPr>
            </a:lvl4pPr>
            <a:lvl5pPr marL="1774119" indent="0">
              <a:buNone/>
              <a:defRPr sz="1552">
                <a:solidFill>
                  <a:schemeClr val="tx1">
                    <a:tint val="75000"/>
                  </a:schemeClr>
                </a:solidFill>
              </a:defRPr>
            </a:lvl5pPr>
            <a:lvl6pPr marL="2217649" indent="0">
              <a:buNone/>
              <a:defRPr sz="1552">
                <a:solidFill>
                  <a:schemeClr val="tx1">
                    <a:tint val="75000"/>
                  </a:schemeClr>
                </a:solidFill>
              </a:defRPr>
            </a:lvl6pPr>
            <a:lvl7pPr marL="2661178" indent="0">
              <a:buNone/>
              <a:defRPr sz="1552">
                <a:solidFill>
                  <a:schemeClr val="tx1">
                    <a:tint val="75000"/>
                  </a:schemeClr>
                </a:solidFill>
              </a:defRPr>
            </a:lvl7pPr>
            <a:lvl8pPr marL="3104708" indent="0">
              <a:buNone/>
              <a:defRPr sz="1552">
                <a:solidFill>
                  <a:schemeClr val="tx1">
                    <a:tint val="75000"/>
                  </a:schemeClr>
                </a:solidFill>
              </a:defRPr>
            </a:lvl8pPr>
            <a:lvl9pPr marL="3548238" indent="0">
              <a:buNone/>
              <a:defRPr sz="1552">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16780" y="6711821"/>
            <a:ext cx="1573821" cy="420817"/>
          </a:xfrm>
        </p:spPr>
        <p:txBody>
          <a:bodyPr/>
          <a:lstStyle>
            <a:lvl1pPr>
              <a:defRPr>
                <a:solidFill>
                  <a:schemeClr val="tx2"/>
                </a:solidFill>
              </a:defRPr>
            </a:lvl1pPr>
          </a:lstStyle>
          <a:p>
            <a:fld id="{F871892F-5B10-E649-ACB5-75A0997D6E78}" type="datetimeFigureOut">
              <a:rPr lang="en-US" smtClean="0"/>
              <a:t>1/12/26</a:t>
            </a:fld>
            <a:endParaRPr lang="en-US"/>
          </a:p>
        </p:txBody>
      </p:sp>
      <p:sp>
        <p:nvSpPr>
          <p:cNvPr id="5" name="Footer Placeholder 4"/>
          <p:cNvSpPr>
            <a:spLocks noGrp="1"/>
          </p:cNvSpPr>
          <p:nvPr>
            <p:ph type="ftr" sz="quarter" idx="11"/>
          </p:nvPr>
        </p:nvSpPr>
        <p:spPr>
          <a:xfrm>
            <a:off x="2506918" y="6711821"/>
            <a:ext cx="6813041" cy="420817"/>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536275" y="6711821"/>
            <a:ext cx="1548486" cy="420817"/>
          </a:xfrm>
        </p:spPr>
        <p:txBody>
          <a:bodyPr/>
          <a:lstStyle>
            <a:lvl1pPr>
              <a:defRPr>
                <a:solidFill>
                  <a:schemeClr val="tx2"/>
                </a:solidFill>
              </a:defRPr>
            </a:lvl1pPr>
          </a:lstStyle>
          <a:p>
            <a:fld id="{D33B04A4-5C52-194C-AAE0-3B2E88AABDBE}" type="slidenum">
              <a:rPr lang="en-US" smtClean="0"/>
              <a:t>‹#›</a:t>
            </a:fld>
            <a:endParaRPr lang="en-US"/>
          </a:p>
        </p:txBody>
      </p:sp>
      <p:sp>
        <p:nvSpPr>
          <p:cNvPr id="7" name="Freeform 6" title="Crop Mark"/>
          <p:cNvSpPr/>
          <p:nvPr/>
        </p:nvSpPr>
        <p:spPr bwMode="auto">
          <a:xfrm>
            <a:off x="7907828" y="1753156"/>
            <a:ext cx="3176933" cy="4585032"/>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txBody>
          <a:bodyPr/>
          <a:lstStyle/>
          <a:p>
            <a:endParaRPr lang="en-US"/>
          </a:p>
        </p:txBody>
      </p:sp>
    </p:spTree>
    <p:extLst>
      <p:ext uri="{BB962C8B-B14F-4D97-AF65-F5344CB8AC3E}">
        <p14:creationId xmlns:p14="http://schemas.microsoft.com/office/powerpoint/2010/main" val="375444946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30523" y="2377546"/>
            <a:ext cx="4314584" cy="372482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9981" y="2377546"/>
            <a:ext cx="4314584" cy="372482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71892F-5B10-E649-ACB5-75A0997D6E78}" type="datetimeFigureOut">
              <a:rPr lang="en-US" smtClean="0"/>
              <a:t>1/12/26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369048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30523" y="713264"/>
            <a:ext cx="9313664" cy="1545405"/>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30523" y="2434607"/>
            <a:ext cx="4310896" cy="856907"/>
          </a:xfrm>
        </p:spPr>
        <p:txBody>
          <a:bodyPr anchor="b">
            <a:noAutofit/>
          </a:bodyPr>
          <a:lstStyle>
            <a:lvl1pPr marL="0" indent="0">
              <a:lnSpc>
                <a:spcPct val="84000"/>
              </a:lnSpc>
              <a:spcBef>
                <a:spcPts val="0"/>
              </a:spcBef>
              <a:spcAft>
                <a:spcPts val="0"/>
              </a:spcAft>
              <a:buNone/>
              <a:defRPr sz="2910" b="0" baseline="0">
                <a:solidFill>
                  <a:schemeClr val="tx2"/>
                </a:solidFill>
              </a:defRPr>
            </a:lvl1pPr>
            <a:lvl2pPr marL="443530" indent="0">
              <a:buNone/>
              <a:defRPr sz="1940" b="1"/>
            </a:lvl2pPr>
            <a:lvl3pPr marL="887059" indent="0">
              <a:buNone/>
              <a:defRPr sz="1746" b="1"/>
            </a:lvl3pPr>
            <a:lvl4pPr marL="1330589" indent="0">
              <a:buNone/>
              <a:defRPr sz="1552" b="1"/>
            </a:lvl4pPr>
            <a:lvl5pPr marL="1774119" indent="0">
              <a:buNone/>
              <a:defRPr sz="1552" b="1"/>
            </a:lvl5pPr>
            <a:lvl6pPr marL="2217649" indent="0">
              <a:buNone/>
              <a:defRPr sz="1552" b="1"/>
            </a:lvl6pPr>
            <a:lvl7pPr marL="2661178" indent="0">
              <a:buNone/>
              <a:defRPr sz="1552" b="1"/>
            </a:lvl7pPr>
            <a:lvl8pPr marL="3104708" indent="0">
              <a:buNone/>
              <a:defRPr sz="1552" b="1"/>
            </a:lvl8pPr>
            <a:lvl9pPr marL="3548238" indent="0">
              <a:buNone/>
              <a:defRPr sz="1552" b="1"/>
            </a:lvl9pPr>
          </a:lstStyle>
          <a:p>
            <a:pPr lvl="0"/>
            <a:r>
              <a:rPr lang="en-US"/>
              <a:t>Click to edit Master text styles</a:t>
            </a:r>
          </a:p>
        </p:txBody>
      </p:sp>
      <p:sp>
        <p:nvSpPr>
          <p:cNvPr id="4" name="Content Placeholder 3"/>
          <p:cNvSpPr>
            <a:spLocks noGrp="1"/>
          </p:cNvSpPr>
          <p:nvPr>
            <p:ph sz="half" idx="2"/>
          </p:nvPr>
        </p:nvSpPr>
        <p:spPr>
          <a:xfrm>
            <a:off x="1330523" y="3437569"/>
            <a:ext cx="4310896" cy="2664800"/>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9603" y="2434607"/>
            <a:ext cx="4310896" cy="856907"/>
          </a:xfrm>
        </p:spPr>
        <p:txBody>
          <a:bodyPr anchor="b">
            <a:noAutofit/>
          </a:bodyPr>
          <a:lstStyle>
            <a:lvl1pPr marL="0" indent="0">
              <a:lnSpc>
                <a:spcPct val="84000"/>
              </a:lnSpc>
              <a:spcBef>
                <a:spcPts val="0"/>
              </a:spcBef>
              <a:spcAft>
                <a:spcPts val="0"/>
              </a:spcAft>
              <a:buNone/>
              <a:defRPr sz="2910" b="0" baseline="0">
                <a:solidFill>
                  <a:schemeClr val="tx2"/>
                </a:solidFill>
              </a:defRPr>
            </a:lvl1pPr>
            <a:lvl2pPr marL="443530" indent="0">
              <a:buNone/>
              <a:defRPr sz="1940" b="1"/>
            </a:lvl2pPr>
            <a:lvl3pPr marL="887059" indent="0">
              <a:buNone/>
              <a:defRPr sz="1746" b="1"/>
            </a:lvl3pPr>
            <a:lvl4pPr marL="1330589" indent="0">
              <a:buNone/>
              <a:defRPr sz="1552" b="1"/>
            </a:lvl4pPr>
            <a:lvl5pPr marL="1774119" indent="0">
              <a:buNone/>
              <a:defRPr sz="1552" b="1"/>
            </a:lvl5pPr>
            <a:lvl6pPr marL="2217649" indent="0">
              <a:buNone/>
              <a:defRPr sz="1552" b="1"/>
            </a:lvl6pPr>
            <a:lvl7pPr marL="2661178" indent="0">
              <a:buNone/>
              <a:defRPr sz="1552" b="1"/>
            </a:lvl7pPr>
            <a:lvl8pPr marL="3104708" indent="0">
              <a:buNone/>
              <a:defRPr sz="1552" b="1"/>
            </a:lvl8pPr>
            <a:lvl9pPr marL="3548238" indent="0">
              <a:buNone/>
              <a:defRPr sz="1552" b="1"/>
            </a:lvl9pPr>
          </a:lstStyle>
          <a:p>
            <a:pPr lvl="0"/>
            <a:r>
              <a:rPr lang="en-US"/>
              <a:t>Click to edit Master text styles</a:t>
            </a:r>
          </a:p>
        </p:txBody>
      </p:sp>
      <p:sp>
        <p:nvSpPr>
          <p:cNvPr id="6" name="Content Placeholder 5"/>
          <p:cNvSpPr>
            <a:spLocks noGrp="1"/>
          </p:cNvSpPr>
          <p:nvPr>
            <p:ph sz="quarter" idx="4"/>
          </p:nvPr>
        </p:nvSpPr>
        <p:spPr>
          <a:xfrm>
            <a:off x="6329603" y="3437569"/>
            <a:ext cx="4310896" cy="2664800"/>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71892F-5B10-E649-ACB5-75A0997D6E78}" type="datetimeFigureOut">
              <a:rPr lang="en-US" smtClean="0"/>
              <a:t>1/12/26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3503402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71892F-5B10-E649-ACB5-75A0997D6E78}" type="datetimeFigureOut">
              <a:rPr lang="en-US" smtClean="0"/>
              <a:t>1/12/26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3774167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71892F-5B10-E649-ACB5-75A0997D6E78}" type="datetimeFigureOut">
              <a:rPr lang="en-US" smtClean="0"/>
              <a:t>1/12/26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258511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91"/>
            <a:ext cx="5144691" cy="7132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02221" y="713264"/>
            <a:ext cx="3740249" cy="2244299"/>
          </a:xfrm>
        </p:spPr>
        <p:txBody>
          <a:bodyPr anchor="t">
            <a:noAutofit/>
          </a:bodyPr>
          <a:lstStyle>
            <a:lvl1pPr>
              <a:lnSpc>
                <a:spcPct val="84000"/>
              </a:lnSpc>
              <a:defRPr sz="4656"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068665" y="713265"/>
            <a:ext cx="5055989" cy="5382500"/>
          </a:xfrm>
        </p:spPr>
        <p:txBody>
          <a:bodyPr/>
          <a:lstStyle>
            <a:lvl1pPr>
              <a:defRPr sz="1940"/>
            </a:lvl1pPr>
            <a:lvl2pPr>
              <a:defRPr sz="1940"/>
            </a:lvl2pPr>
            <a:lvl3pPr>
              <a:defRPr sz="1746"/>
            </a:lvl3pPr>
            <a:lvl4pPr>
              <a:defRPr sz="1746"/>
            </a:lvl4pPr>
            <a:lvl5pPr>
              <a:defRPr sz="1552"/>
            </a:lvl5pPr>
            <a:lvl6pPr>
              <a:defRPr sz="1552"/>
            </a:lvl6pPr>
            <a:lvl7pPr>
              <a:defRPr sz="1552"/>
            </a:lvl7pPr>
            <a:lvl8pPr>
              <a:defRPr sz="1552"/>
            </a:lvl8pPr>
            <a:lvl9pPr>
              <a:defRPr sz="155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2221" y="2970730"/>
            <a:ext cx="3740249" cy="3131638"/>
          </a:xfrm>
        </p:spPr>
        <p:txBody>
          <a:bodyPr/>
          <a:lstStyle>
            <a:lvl1pPr marL="0" indent="0">
              <a:lnSpc>
                <a:spcPct val="113000"/>
              </a:lnSpc>
              <a:spcBef>
                <a:spcPts val="0"/>
              </a:spcBef>
              <a:spcAft>
                <a:spcPts val="1455"/>
              </a:spcAft>
              <a:buNone/>
              <a:defRPr sz="1552"/>
            </a:lvl1pPr>
            <a:lvl2pPr marL="443530" indent="0">
              <a:buNone/>
              <a:defRPr sz="1358"/>
            </a:lvl2pPr>
            <a:lvl3pPr marL="887059" indent="0">
              <a:buNone/>
              <a:defRPr sz="1164"/>
            </a:lvl3pPr>
            <a:lvl4pPr marL="1330589" indent="0">
              <a:buNone/>
              <a:defRPr sz="970"/>
            </a:lvl4pPr>
            <a:lvl5pPr marL="1774119" indent="0">
              <a:buNone/>
              <a:defRPr sz="970"/>
            </a:lvl5pPr>
            <a:lvl6pPr marL="2217649" indent="0">
              <a:buNone/>
              <a:defRPr sz="970"/>
            </a:lvl6pPr>
            <a:lvl7pPr marL="2661178" indent="0">
              <a:buNone/>
              <a:defRPr sz="970"/>
            </a:lvl7pPr>
            <a:lvl8pPr marL="3104708" indent="0">
              <a:buNone/>
              <a:defRPr sz="970"/>
            </a:lvl8pPr>
            <a:lvl9pPr marL="3548238" indent="0">
              <a:buNone/>
              <a:defRPr sz="970"/>
            </a:lvl9pPr>
          </a:lstStyle>
          <a:p>
            <a:pPr lvl="0"/>
            <a:r>
              <a:rPr lang="en-US"/>
              <a:t>Click to edit Master text styles</a:t>
            </a:r>
          </a:p>
        </p:txBody>
      </p:sp>
      <p:sp>
        <p:nvSpPr>
          <p:cNvPr id="5" name="Date Placeholder 4"/>
          <p:cNvSpPr>
            <a:spLocks noGrp="1"/>
          </p:cNvSpPr>
          <p:nvPr>
            <p:ph type="dt" sz="half" idx="10"/>
          </p:nvPr>
        </p:nvSpPr>
        <p:spPr>
          <a:xfrm>
            <a:off x="702220" y="6711821"/>
            <a:ext cx="1168498" cy="420817"/>
          </a:xfrm>
        </p:spPr>
        <p:txBody>
          <a:bodyPr/>
          <a:lstStyle>
            <a:lvl1pPr>
              <a:defRPr>
                <a:solidFill>
                  <a:schemeClr val="tx2"/>
                </a:solidFill>
              </a:defRPr>
            </a:lvl1pPr>
          </a:lstStyle>
          <a:p>
            <a:fld id="{F871892F-5B10-E649-ACB5-75A0997D6E78}" type="datetimeFigureOut">
              <a:rPr lang="en-US" smtClean="0"/>
              <a:t>1/12/26</a:t>
            </a:fld>
            <a:endParaRPr lang="en-US"/>
          </a:p>
        </p:txBody>
      </p:sp>
      <p:sp>
        <p:nvSpPr>
          <p:cNvPr id="6" name="Footer Placeholder 5"/>
          <p:cNvSpPr>
            <a:spLocks noGrp="1"/>
          </p:cNvSpPr>
          <p:nvPr>
            <p:ph type="ftr" sz="quarter" idx="11"/>
          </p:nvPr>
        </p:nvSpPr>
        <p:spPr>
          <a:xfrm>
            <a:off x="2139882" y="6711821"/>
            <a:ext cx="2302588" cy="420817"/>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587161" y="6711821"/>
            <a:ext cx="1548486" cy="420817"/>
          </a:xfrm>
        </p:spPr>
        <p:txBody>
          <a:bodyPr/>
          <a:lstStyle>
            <a:lvl1pPr>
              <a:defRPr>
                <a:solidFill>
                  <a:schemeClr val="tx2"/>
                </a:solidFill>
              </a:defRPr>
            </a:lvl1pPr>
          </a:lstStyle>
          <a:p>
            <a:fld id="{D33B04A4-5C52-194C-AAE0-3B2E88AABDBE}" type="slidenum">
              <a:rPr lang="en-US" smtClean="0"/>
              <a:t>‹#›</a:t>
            </a:fld>
            <a:endParaRPr lang="en-US"/>
          </a:p>
        </p:txBody>
      </p:sp>
      <p:sp>
        <p:nvSpPr>
          <p:cNvPr id="9" name="Rectangle 8" title="Divider Bar"/>
          <p:cNvSpPr/>
          <p:nvPr/>
        </p:nvSpPr>
        <p:spPr>
          <a:xfrm>
            <a:off x="5144691" y="391"/>
            <a:ext cx="221754" cy="71326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66506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91"/>
            <a:ext cx="5144691" cy="71322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702221" y="713264"/>
            <a:ext cx="3740249" cy="2244299"/>
          </a:xfrm>
        </p:spPr>
        <p:txBody>
          <a:bodyPr anchor="t">
            <a:normAutofit/>
          </a:bodyPr>
          <a:lstStyle>
            <a:lvl1pPr>
              <a:lnSpc>
                <a:spcPct val="84000"/>
              </a:lnSpc>
              <a:defRPr sz="4656"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66445" y="1"/>
            <a:ext cx="6460430" cy="7132637"/>
          </a:xfrm>
        </p:spPr>
        <p:txBody>
          <a:bodyPr anchor="t">
            <a:normAutofit/>
          </a:bodyPr>
          <a:lstStyle>
            <a:lvl1pPr marL="0" indent="0">
              <a:buNone/>
              <a:defRPr sz="1940"/>
            </a:lvl1pPr>
            <a:lvl2pPr marL="443530" indent="0">
              <a:buNone/>
              <a:defRPr sz="1940"/>
            </a:lvl2pPr>
            <a:lvl3pPr marL="887059" indent="0">
              <a:buNone/>
              <a:defRPr sz="1940"/>
            </a:lvl3pPr>
            <a:lvl4pPr marL="1330589" indent="0">
              <a:buNone/>
              <a:defRPr sz="1940"/>
            </a:lvl4pPr>
            <a:lvl5pPr marL="1774119" indent="0">
              <a:buNone/>
              <a:defRPr sz="1940"/>
            </a:lvl5pPr>
            <a:lvl6pPr marL="2217649" indent="0">
              <a:buNone/>
              <a:defRPr sz="1940"/>
            </a:lvl6pPr>
            <a:lvl7pPr marL="2661178" indent="0">
              <a:buNone/>
              <a:defRPr sz="1940"/>
            </a:lvl7pPr>
            <a:lvl8pPr marL="3104708" indent="0">
              <a:buNone/>
              <a:defRPr sz="1940"/>
            </a:lvl8pPr>
            <a:lvl9pPr marL="3548238" indent="0">
              <a:buNone/>
              <a:defRPr sz="1940"/>
            </a:lvl9pPr>
          </a:lstStyle>
          <a:p>
            <a:r>
              <a:rPr lang="en-US"/>
              <a:t>Click icon to add picture</a:t>
            </a:r>
            <a:endParaRPr lang="en-US" dirty="0"/>
          </a:p>
        </p:txBody>
      </p:sp>
      <p:sp>
        <p:nvSpPr>
          <p:cNvPr id="4" name="Text Placeholder 3"/>
          <p:cNvSpPr>
            <a:spLocks noGrp="1"/>
          </p:cNvSpPr>
          <p:nvPr>
            <p:ph type="body" sz="half" idx="2"/>
          </p:nvPr>
        </p:nvSpPr>
        <p:spPr>
          <a:xfrm>
            <a:off x="702221" y="2970339"/>
            <a:ext cx="3740249" cy="3132029"/>
          </a:xfrm>
        </p:spPr>
        <p:txBody>
          <a:bodyPr/>
          <a:lstStyle>
            <a:lvl1pPr marL="0" indent="0">
              <a:lnSpc>
                <a:spcPct val="113000"/>
              </a:lnSpc>
              <a:spcBef>
                <a:spcPts val="0"/>
              </a:spcBef>
              <a:spcAft>
                <a:spcPts val="1455"/>
              </a:spcAft>
              <a:buNone/>
              <a:defRPr sz="1552"/>
            </a:lvl1pPr>
            <a:lvl2pPr marL="443530" indent="0">
              <a:buNone/>
              <a:defRPr sz="1358"/>
            </a:lvl2pPr>
            <a:lvl3pPr marL="887059" indent="0">
              <a:buNone/>
              <a:defRPr sz="1164"/>
            </a:lvl3pPr>
            <a:lvl4pPr marL="1330589" indent="0">
              <a:buNone/>
              <a:defRPr sz="970"/>
            </a:lvl4pPr>
            <a:lvl5pPr marL="1774119" indent="0">
              <a:buNone/>
              <a:defRPr sz="970"/>
            </a:lvl5pPr>
            <a:lvl6pPr marL="2217649" indent="0">
              <a:buNone/>
              <a:defRPr sz="970"/>
            </a:lvl6pPr>
            <a:lvl7pPr marL="2661178" indent="0">
              <a:buNone/>
              <a:defRPr sz="970"/>
            </a:lvl7pPr>
            <a:lvl8pPr marL="3104708" indent="0">
              <a:buNone/>
              <a:defRPr sz="970"/>
            </a:lvl8pPr>
            <a:lvl9pPr marL="3548238" indent="0">
              <a:buNone/>
              <a:defRPr sz="970"/>
            </a:lvl9pPr>
          </a:lstStyle>
          <a:p>
            <a:pPr lvl="0"/>
            <a:r>
              <a:rPr lang="en-US"/>
              <a:t>Click to edit Master text styles</a:t>
            </a:r>
          </a:p>
        </p:txBody>
      </p:sp>
      <p:sp>
        <p:nvSpPr>
          <p:cNvPr id="5" name="Date Placeholder 4"/>
          <p:cNvSpPr>
            <a:spLocks noGrp="1"/>
          </p:cNvSpPr>
          <p:nvPr>
            <p:ph type="dt" sz="half" idx="10"/>
          </p:nvPr>
        </p:nvSpPr>
        <p:spPr>
          <a:xfrm>
            <a:off x="702220" y="6711821"/>
            <a:ext cx="1168498" cy="420817"/>
          </a:xfrm>
        </p:spPr>
        <p:txBody>
          <a:bodyPr/>
          <a:lstStyle>
            <a:lvl1pPr>
              <a:defRPr>
                <a:solidFill>
                  <a:schemeClr val="tx2"/>
                </a:solidFill>
              </a:defRPr>
            </a:lvl1pPr>
          </a:lstStyle>
          <a:p>
            <a:fld id="{F871892F-5B10-E649-ACB5-75A0997D6E78}" type="datetimeFigureOut">
              <a:rPr lang="en-US" smtClean="0"/>
              <a:t>1/12/26</a:t>
            </a:fld>
            <a:endParaRPr lang="en-US"/>
          </a:p>
        </p:txBody>
      </p:sp>
      <p:sp>
        <p:nvSpPr>
          <p:cNvPr id="6" name="Footer Placeholder 5"/>
          <p:cNvSpPr>
            <a:spLocks noGrp="1"/>
          </p:cNvSpPr>
          <p:nvPr>
            <p:ph type="ftr" sz="quarter" idx="11"/>
          </p:nvPr>
        </p:nvSpPr>
        <p:spPr>
          <a:xfrm>
            <a:off x="2139882" y="6711821"/>
            <a:ext cx="2302588" cy="420817"/>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587161" y="6711821"/>
            <a:ext cx="1548486" cy="420817"/>
          </a:xfrm>
        </p:spPr>
        <p:txBody>
          <a:bodyPr/>
          <a:lstStyle>
            <a:lvl1pPr>
              <a:defRPr>
                <a:solidFill>
                  <a:schemeClr val="tx2"/>
                </a:solidFill>
              </a:defRPr>
            </a:lvl1pPr>
          </a:lstStyle>
          <a:p>
            <a:fld id="{D33B04A4-5C52-194C-AAE0-3B2E88AABDBE}" type="slidenum">
              <a:rPr lang="en-US" smtClean="0"/>
              <a:t>‹#›</a:t>
            </a:fld>
            <a:endParaRPr lang="en-US"/>
          </a:p>
        </p:txBody>
      </p:sp>
      <p:sp>
        <p:nvSpPr>
          <p:cNvPr id="9" name="Rectangle 8" title="Divider Bar"/>
          <p:cNvSpPr/>
          <p:nvPr/>
        </p:nvSpPr>
        <p:spPr>
          <a:xfrm>
            <a:off x="5144691" y="391"/>
            <a:ext cx="221754" cy="71326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667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30523" y="2387453"/>
            <a:ext cx="9313664" cy="371491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71892F-5B10-E649-ACB5-75A0997D6E78}"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2641978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09164" y="649151"/>
            <a:ext cx="1518875" cy="54532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30524" y="649151"/>
            <a:ext cx="7934678" cy="54532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71892F-5B10-E649-ACB5-75A0997D6E78}" type="datetimeFigureOut">
              <a:rPr lang="en-US" smtClean="0"/>
              <a:t>1/12/26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B04A4-5C52-194C-AAE0-3B2E88AABDBE}" type="slidenum">
              <a:rPr lang="en-US" smtClean="0"/>
              <a:t>‹#›</a:t>
            </a:fld>
            <a:endParaRPr lang="en-US"/>
          </a:p>
        </p:txBody>
      </p:sp>
    </p:spTree>
    <p:extLst>
      <p:ext uri="{BB962C8B-B14F-4D97-AF65-F5344CB8AC3E}">
        <p14:creationId xmlns:p14="http://schemas.microsoft.com/office/powerpoint/2010/main" val="323632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30523" y="713264"/>
            <a:ext cx="9313664" cy="154540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30523" y="2377546"/>
            <a:ext cx="9313664" cy="37248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49003" y="6711821"/>
            <a:ext cx="1168498" cy="420817"/>
          </a:xfrm>
          <a:prstGeom prst="rect">
            <a:avLst/>
          </a:prstGeom>
        </p:spPr>
        <p:txBody>
          <a:bodyPr vert="horz" lIns="91440" tIns="45720" rIns="91440" bIns="45720" rtlCol="0" anchor="ctr"/>
          <a:lstStyle>
            <a:lvl1pPr algn="l">
              <a:defRPr sz="1164" baseline="0">
                <a:solidFill>
                  <a:schemeClr val="tx2"/>
                </a:solidFill>
              </a:defRPr>
            </a:lvl1pPr>
          </a:lstStyle>
          <a:p>
            <a:fld id="{F871892F-5B10-E649-ACB5-75A0997D6E78}" type="datetimeFigureOut">
              <a:rPr lang="en-US" smtClean="0"/>
              <a:t>1/12/26</a:t>
            </a:fld>
            <a:endParaRPr lang="en-US"/>
          </a:p>
        </p:txBody>
      </p:sp>
      <p:sp>
        <p:nvSpPr>
          <p:cNvPr id="5" name="Footer Placeholder 4"/>
          <p:cNvSpPr>
            <a:spLocks noGrp="1"/>
          </p:cNvSpPr>
          <p:nvPr>
            <p:ph type="ftr" sz="quarter" idx="3"/>
          </p:nvPr>
        </p:nvSpPr>
        <p:spPr>
          <a:xfrm>
            <a:off x="2806908" y="6711821"/>
            <a:ext cx="6092732" cy="420817"/>
          </a:xfrm>
          <a:prstGeom prst="rect">
            <a:avLst/>
          </a:prstGeom>
        </p:spPr>
        <p:txBody>
          <a:bodyPr vert="horz" lIns="91440" tIns="45720" rIns="91440" bIns="45720" rtlCol="0" anchor="ctr"/>
          <a:lstStyle>
            <a:lvl1pPr algn="l">
              <a:defRPr sz="1164" baseline="0">
                <a:solidFill>
                  <a:schemeClr val="tx2"/>
                </a:solidFill>
              </a:defRPr>
            </a:lvl1pPr>
          </a:lstStyle>
          <a:p>
            <a:endParaRPr lang="en-US"/>
          </a:p>
        </p:txBody>
      </p:sp>
      <p:sp>
        <p:nvSpPr>
          <p:cNvPr id="6" name="Slide Number Placeholder 5"/>
          <p:cNvSpPr>
            <a:spLocks noGrp="1"/>
          </p:cNvSpPr>
          <p:nvPr>
            <p:ph type="sldNum" sz="quarter" idx="4"/>
          </p:nvPr>
        </p:nvSpPr>
        <p:spPr>
          <a:xfrm>
            <a:off x="9189047" y="6711821"/>
            <a:ext cx="1548486" cy="420817"/>
          </a:xfrm>
          <a:prstGeom prst="rect">
            <a:avLst/>
          </a:prstGeom>
        </p:spPr>
        <p:txBody>
          <a:bodyPr vert="horz" lIns="91440" tIns="45720" rIns="91440" bIns="45720" rtlCol="0" anchor="ctr"/>
          <a:lstStyle>
            <a:lvl1pPr algn="r">
              <a:defRPr sz="1164" baseline="0">
                <a:solidFill>
                  <a:schemeClr val="tx2"/>
                </a:solidFill>
              </a:defRPr>
            </a:lvl1pPr>
          </a:lstStyle>
          <a:p>
            <a:fld id="{D33B04A4-5C52-194C-AAE0-3B2E88AABDBE}" type="slidenum">
              <a:rPr lang="en-US" smtClean="0"/>
              <a:t>‹#›</a:t>
            </a:fld>
            <a:endParaRPr lang="en-US"/>
          </a:p>
        </p:txBody>
      </p:sp>
      <p:sp>
        <p:nvSpPr>
          <p:cNvPr id="9" name="Rectangle 8" title="Side bar"/>
          <p:cNvSpPr/>
          <p:nvPr/>
        </p:nvSpPr>
        <p:spPr>
          <a:xfrm>
            <a:off x="463777" y="391"/>
            <a:ext cx="221754" cy="71326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6045112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887059" rtl="0" eaLnBrk="1" latinLnBrk="0" hangingPunct="1">
        <a:lnSpc>
          <a:spcPct val="89000"/>
        </a:lnSpc>
        <a:spcBef>
          <a:spcPct val="0"/>
        </a:spcBef>
        <a:buNone/>
        <a:defRPr sz="4268" kern="1200" baseline="0">
          <a:solidFill>
            <a:schemeClr val="tx2"/>
          </a:solidFill>
          <a:latin typeface="+mj-lt"/>
          <a:ea typeface="+mj-ea"/>
          <a:cs typeface="+mj-cs"/>
        </a:defRPr>
      </a:lvl1pPr>
    </p:titleStyle>
    <p:body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p:bodyStyle>
    <p:otherStyle>
      <a:defPPr>
        <a:defRPr lang="en-US"/>
      </a:defPPr>
      <a:lvl1pPr marL="0" algn="l" defTabSz="887059" rtl="0" eaLnBrk="1" latinLnBrk="0" hangingPunct="1">
        <a:defRPr sz="1746" kern="1200">
          <a:solidFill>
            <a:schemeClr val="tx1"/>
          </a:solidFill>
          <a:latin typeface="+mn-lt"/>
          <a:ea typeface="+mn-ea"/>
          <a:cs typeface="+mn-cs"/>
        </a:defRPr>
      </a:lvl1pPr>
      <a:lvl2pPr marL="443530" algn="l" defTabSz="887059" rtl="0" eaLnBrk="1" latinLnBrk="0" hangingPunct="1">
        <a:defRPr sz="1746" kern="1200">
          <a:solidFill>
            <a:schemeClr val="tx1"/>
          </a:solidFill>
          <a:latin typeface="+mn-lt"/>
          <a:ea typeface="+mn-ea"/>
          <a:cs typeface="+mn-cs"/>
        </a:defRPr>
      </a:lvl2pPr>
      <a:lvl3pPr marL="887059" algn="l" defTabSz="887059" rtl="0" eaLnBrk="1" latinLnBrk="0" hangingPunct="1">
        <a:defRPr sz="1746" kern="1200">
          <a:solidFill>
            <a:schemeClr val="tx1"/>
          </a:solidFill>
          <a:latin typeface="+mn-lt"/>
          <a:ea typeface="+mn-ea"/>
          <a:cs typeface="+mn-cs"/>
        </a:defRPr>
      </a:lvl3pPr>
      <a:lvl4pPr marL="1330589" algn="l" defTabSz="887059" rtl="0" eaLnBrk="1" latinLnBrk="0" hangingPunct="1">
        <a:defRPr sz="1746" kern="1200">
          <a:solidFill>
            <a:schemeClr val="tx1"/>
          </a:solidFill>
          <a:latin typeface="+mn-lt"/>
          <a:ea typeface="+mn-ea"/>
          <a:cs typeface="+mn-cs"/>
        </a:defRPr>
      </a:lvl4pPr>
      <a:lvl5pPr marL="1774119" algn="l" defTabSz="887059" rtl="0" eaLnBrk="1" latinLnBrk="0" hangingPunct="1">
        <a:defRPr sz="1746" kern="1200">
          <a:solidFill>
            <a:schemeClr val="tx1"/>
          </a:solidFill>
          <a:latin typeface="+mn-lt"/>
          <a:ea typeface="+mn-ea"/>
          <a:cs typeface="+mn-cs"/>
        </a:defRPr>
      </a:lvl5pPr>
      <a:lvl6pPr marL="2217649" algn="l" defTabSz="887059" rtl="0" eaLnBrk="1" latinLnBrk="0" hangingPunct="1">
        <a:defRPr sz="1746" kern="1200">
          <a:solidFill>
            <a:schemeClr val="tx1"/>
          </a:solidFill>
          <a:latin typeface="+mn-lt"/>
          <a:ea typeface="+mn-ea"/>
          <a:cs typeface="+mn-cs"/>
        </a:defRPr>
      </a:lvl6pPr>
      <a:lvl7pPr marL="2661178" algn="l" defTabSz="887059" rtl="0" eaLnBrk="1" latinLnBrk="0" hangingPunct="1">
        <a:defRPr sz="1746" kern="1200">
          <a:solidFill>
            <a:schemeClr val="tx1"/>
          </a:solidFill>
          <a:latin typeface="+mn-lt"/>
          <a:ea typeface="+mn-ea"/>
          <a:cs typeface="+mn-cs"/>
        </a:defRPr>
      </a:lvl7pPr>
      <a:lvl8pPr marL="3104708" algn="l" defTabSz="887059" rtl="0" eaLnBrk="1" latinLnBrk="0" hangingPunct="1">
        <a:defRPr sz="1746" kern="1200">
          <a:solidFill>
            <a:schemeClr val="tx1"/>
          </a:solidFill>
          <a:latin typeface="+mn-lt"/>
          <a:ea typeface="+mn-ea"/>
          <a:cs typeface="+mn-cs"/>
        </a:defRPr>
      </a:lvl8pPr>
      <a:lvl9pPr marL="3548238" algn="l" defTabSz="887059" rtl="0" eaLnBrk="1" latinLnBrk="0" hangingPunct="1">
        <a:defRPr sz="1746"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65122" y="1035587"/>
            <a:ext cx="9276736" cy="2875402"/>
          </a:xfrm>
        </p:spPr>
        <p:txBody>
          <a:bodyPr>
            <a:normAutofit/>
          </a:bodyPr>
          <a:lstStyle/>
          <a:p>
            <a:r>
              <a:rPr lang="en-US" sz="5400" b="1" dirty="0"/>
              <a:t>MSDS 6306 </a:t>
            </a:r>
            <a:br>
              <a:rPr lang="en-US" sz="5400" b="1" dirty="0"/>
            </a:br>
            <a:r>
              <a:rPr lang="en-US" sz="5400" b="1" dirty="0"/>
              <a:t>Week 2 – VISUALIZATION | ggplot2, plotly </a:t>
            </a:r>
          </a:p>
        </p:txBody>
      </p:sp>
      <p:sp>
        <p:nvSpPr>
          <p:cNvPr id="3" name="Subtitle 2"/>
          <p:cNvSpPr>
            <a:spLocks noGrp="1"/>
          </p:cNvSpPr>
          <p:nvPr>
            <p:ph type="subTitle" idx="1"/>
          </p:nvPr>
        </p:nvSpPr>
        <p:spPr>
          <a:xfrm>
            <a:off x="626140" y="4175391"/>
            <a:ext cx="10574593" cy="2278079"/>
          </a:xfrm>
        </p:spPr>
        <p:txBody>
          <a:bodyPr>
            <a:normAutofit/>
          </a:bodyPr>
          <a:lstStyle/>
          <a:p>
            <a:endParaRPr lang="en-US" sz="3200" dirty="0">
              <a:solidFill>
                <a:schemeClr val="tx1"/>
              </a:solidFill>
            </a:endParaRPr>
          </a:p>
          <a:p>
            <a:r>
              <a:rPr lang="en-US" sz="2000" dirty="0">
                <a:solidFill>
                  <a:schemeClr val="tx1"/>
                </a:solidFill>
              </a:rPr>
              <a:t>January 9, 2026</a:t>
            </a:r>
          </a:p>
          <a:p>
            <a:r>
              <a:rPr lang="en-US" sz="2000" dirty="0">
                <a:solidFill>
                  <a:schemeClr val="tx1"/>
                </a:solidFill>
              </a:rPr>
              <a:t>Diane Roberts</a:t>
            </a:r>
          </a:p>
        </p:txBody>
      </p:sp>
    </p:spTree>
    <p:extLst>
      <p:ext uri="{BB962C8B-B14F-4D97-AF65-F5344CB8AC3E}">
        <p14:creationId xmlns:p14="http://schemas.microsoft.com/office/powerpoint/2010/main" val="510677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731" y="224273"/>
            <a:ext cx="8559165" cy="673724"/>
          </a:xfrm>
        </p:spPr>
        <p:txBody>
          <a:bodyPr>
            <a:normAutofit/>
          </a:bodyPr>
          <a:lstStyle/>
          <a:p>
            <a:r>
              <a:rPr lang="en-US" sz="4000" b="1" dirty="0"/>
              <a:t>For Live Session</a:t>
            </a:r>
          </a:p>
        </p:txBody>
      </p:sp>
      <p:sp>
        <p:nvSpPr>
          <p:cNvPr id="24" name="Content Placeholder 2">
            <a:extLst>
              <a:ext uri="{FF2B5EF4-FFF2-40B4-BE49-F238E27FC236}">
                <a16:creationId xmlns:a16="http://schemas.microsoft.com/office/drawing/2014/main" id="{69CE9774-2F7B-FA45-8AF1-FA4DA950556F}"/>
              </a:ext>
            </a:extLst>
          </p:cNvPr>
          <p:cNvSpPr txBox="1">
            <a:spLocks/>
          </p:cNvSpPr>
          <p:nvPr/>
        </p:nvSpPr>
        <p:spPr>
          <a:xfrm>
            <a:off x="1023397" y="5744006"/>
            <a:ext cx="9895977" cy="1017353"/>
          </a:xfrm>
          <a:prstGeom prst="rect">
            <a:avLst/>
          </a:prstGeom>
        </p:spPr>
        <p:txBody>
          <a:bodyPr vert="horz" lIns="91440" tIns="45720" rIns="91440" bIns="45720" rtlCol="0">
            <a:normAutofit/>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Data needed to be cleaned as the first few runs captured an extra space, leading the visualization to originally reflect a blank position in the first x on the </a:t>
            </a:r>
            <a:r>
              <a:rPr lang="en-US" dirty="0" err="1"/>
              <a:t>barplot</a:t>
            </a:r>
            <a:r>
              <a:rPr lang="en-US" dirty="0"/>
              <a:t>.</a:t>
            </a:r>
          </a:p>
        </p:txBody>
      </p:sp>
      <p:sp>
        <p:nvSpPr>
          <p:cNvPr id="5" name="TextBox 4">
            <a:extLst>
              <a:ext uri="{FF2B5EF4-FFF2-40B4-BE49-F238E27FC236}">
                <a16:creationId xmlns:a16="http://schemas.microsoft.com/office/drawing/2014/main" id="{0D4BABCF-BDD7-E4D0-506D-47B5E6E0A09D}"/>
              </a:ext>
            </a:extLst>
          </p:cNvPr>
          <p:cNvSpPr txBox="1"/>
          <p:nvPr/>
        </p:nvSpPr>
        <p:spPr>
          <a:xfrm>
            <a:off x="1155598" y="771178"/>
            <a:ext cx="10556993" cy="369332"/>
          </a:xfrm>
          <a:prstGeom prst="rect">
            <a:avLst/>
          </a:prstGeom>
          <a:noFill/>
        </p:spPr>
        <p:txBody>
          <a:bodyPr wrap="none" rtlCol="0">
            <a:spAutoFit/>
          </a:bodyPr>
          <a:lstStyle/>
          <a:p>
            <a:r>
              <a:rPr lang="en-US" dirty="0"/>
              <a:t>1. Use the </a:t>
            </a:r>
            <a:r>
              <a:rPr lang="en-US" dirty="0" err="1"/>
              <a:t>PlayerBBall.csv</a:t>
            </a:r>
            <a:r>
              <a:rPr lang="en-US" dirty="0"/>
              <a:t> dataset to visually represent (summarize) the number of players in each position.</a:t>
            </a:r>
          </a:p>
        </p:txBody>
      </p:sp>
      <p:pic>
        <p:nvPicPr>
          <p:cNvPr id="11" name="Picture 10" descr="A graph of a basketball player&#10;&#10;AI-generated content may be incorrect.">
            <a:extLst>
              <a:ext uri="{FF2B5EF4-FFF2-40B4-BE49-F238E27FC236}">
                <a16:creationId xmlns:a16="http://schemas.microsoft.com/office/drawing/2014/main" id="{DC47D362-2A83-716B-9675-776FD91615D8}"/>
              </a:ext>
            </a:extLst>
          </p:cNvPr>
          <p:cNvPicPr>
            <a:picLocks noChangeAspect="1"/>
          </p:cNvPicPr>
          <p:nvPr/>
        </p:nvPicPr>
        <p:blipFill>
          <a:blip r:embed="rId3"/>
          <a:stretch>
            <a:fillRect/>
          </a:stretch>
        </p:blipFill>
        <p:spPr>
          <a:xfrm>
            <a:off x="1214437" y="1288973"/>
            <a:ext cx="4833823" cy="4270902"/>
          </a:xfrm>
          <a:prstGeom prst="rect">
            <a:avLst/>
          </a:prstGeom>
        </p:spPr>
      </p:pic>
      <p:pic>
        <p:nvPicPr>
          <p:cNvPr id="13" name="Picture 12">
            <a:extLst>
              <a:ext uri="{FF2B5EF4-FFF2-40B4-BE49-F238E27FC236}">
                <a16:creationId xmlns:a16="http://schemas.microsoft.com/office/drawing/2014/main" id="{CB0772AD-B639-AC2B-57E4-AAD8770EA554}"/>
              </a:ext>
            </a:extLst>
          </p:cNvPr>
          <p:cNvPicPr>
            <a:picLocks noChangeAspect="1"/>
          </p:cNvPicPr>
          <p:nvPr/>
        </p:nvPicPr>
        <p:blipFill>
          <a:blip r:embed="rId4"/>
          <a:stretch>
            <a:fillRect/>
          </a:stretch>
        </p:blipFill>
        <p:spPr>
          <a:xfrm>
            <a:off x="6351490" y="1288973"/>
            <a:ext cx="5361101" cy="602445"/>
          </a:xfrm>
          <a:prstGeom prst="rect">
            <a:avLst/>
          </a:prstGeom>
        </p:spPr>
      </p:pic>
      <p:pic>
        <p:nvPicPr>
          <p:cNvPr id="15" name="Picture 14" descr="A screenshot of a computer program&#10;&#10;AI-generated content may be incorrect.">
            <a:extLst>
              <a:ext uri="{FF2B5EF4-FFF2-40B4-BE49-F238E27FC236}">
                <a16:creationId xmlns:a16="http://schemas.microsoft.com/office/drawing/2014/main" id="{AD70AD2E-B997-0A67-E820-3CF2B3E65E5A}"/>
              </a:ext>
            </a:extLst>
          </p:cNvPr>
          <p:cNvPicPr>
            <a:picLocks noChangeAspect="1"/>
          </p:cNvPicPr>
          <p:nvPr/>
        </p:nvPicPr>
        <p:blipFill>
          <a:blip r:embed="rId5"/>
          <a:stretch>
            <a:fillRect/>
          </a:stretch>
        </p:blipFill>
        <p:spPr>
          <a:xfrm>
            <a:off x="6351490" y="2008265"/>
            <a:ext cx="5361101" cy="3551610"/>
          </a:xfrm>
          <a:prstGeom prst="rect">
            <a:avLst/>
          </a:prstGeom>
        </p:spPr>
      </p:pic>
    </p:spTree>
    <p:extLst>
      <p:ext uri="{BB962C8B-B14F-4D97-AF65-F5344CB8AC3E}">
        <p14:creationId xmlns:p14="http://schemas.microsoft.com/office/powerpoint/2010/main" val="218450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4BA0F4DD-D894-C430-6A21-A29014D2CEE5}"/>
              </a:ext>
            </a:extLst>
          </p:cNvPr>
          <p:cNvSpPr txBox="1"/>
          <p:nvPr/>
        </p:nvSpPr>
        <p:spPr>
          <a:xfrm>
            <a:off x="1155598" y="771178"/>
            <a:ext cx="10173491" cy="646331"/>
          </a:xfrm>
          <a:prstGeom prst="rect">
            <a:avLst/>
          </a:prstGeom>
          <a:noFill/>
        </p:spPr>
        <p:txBody>
          <a:bodyPr wrap="none" rtlCol="0">
            <a:spAutoFit/>
          </a:bodyPr>
          <a:lstStyle/>
          <a:p>
            <a:pPr marL="342900" indent="-342900">
              <a:buFont typeface="+mj-lt"/>
              <a:buAutoNum type="arabicPeriod" startAt="2"/>
            </a:pPr>
            <a:r>
              <a:rPr lang="en-US" dirty="0"/>
              <a:t>Use the dataset to visually investigate if the distribution of the weight of centers C is greater than the</a:t>
            </a:r>
          </a:p>
          <a:p>
            <a:r>
              <a:rPr lang="en-US" dirty="0"/>
              <a:t>Distribution of the weight of forwards F.</a:t>
            </a:r>
          </a:p>
        </p:txBody>
      </p:sp>
      <p:pic>
        <p:nvPicPr>
          <p:cNvPr id="7" name="Picture 6" descr="A graph of a diagram&#10;&#10;AI-generated content may be incorrect.">
            <a:extLst>
              <a:ext uri="{FF2B5EF4-FFF2-40B4-BE49-F238E27FC236}">
                <a16:creationId xmlns:a16="http://schemas.microsoft.com/office/drawing/2014/main" id="{FC804667-D9A7-CB9F-4EBB-0FA40FD80C12}"/>
              </a:ext>
            </a:extLst>
          </p:cNvPr>
          <p:cNvPicPr>
            <a:picLocks noChangeAspect="1"/>
          </p:cNvPicPr>
          <p:nvPr/>
        </p:nvPicPr>
        <p:blipFill>
          <a:blip r:embed="rId3"/>
          <a:stretch>
            <a:fillRect/>
          </a:stretch>
        </p:blipFill>
        <p:spPr>
          <a:xfrm>
            <a:off x="1155598" y="1484460"/>
            <a:ext cx="4757839" cy="3717735"/>
          </a:xfrm>
          <a:prstGeom prst="rect">
            <a:avLst/>
          </a:prstGeom>
        </p:spPr>
      </p:pic>
      <p:sp>
        <p:nvSpPr>
          <p:cNvPr id="9" name="Content Placeholder 2">
            <a:extLst>
              <a:ext uri="{FF2B5EF4-FFF2-40B4-BE49-F238E27FC236}">
                <a16:creationId xmlns:a16="http://schemas.microsoft.com/office/drawing/2014/main" id="{76D73AC5-66DD-8039-1BF9-DE3C31952692}"/>
              </a:ext>
            </a:extLst>
          </p:cNvPr>
          <p:cNvSpPr txBox="1">
            <a:spLocks/>
          </p:cNvSpPr>
          <p:nvPr/>
        </p:nvSpPr>
        <p:spPr>
          <a:xfrm>
            <a:off x="1023397" y="5410371"/>
            <a:ext cx="10173491" cy="1336418"/>
          </a:xfrm>
          <a:prstGeom prst="rect">
            <a:avLst/>
          </a:prstGeom>
        </p:spPr>
        <p:txBody>
          <a:bodyPr vert="horz" lIns="91440" tIns="45720" rIns="91440" bIns="45720" rtlCol="0">
            <a:normAutofit fontScale="92500" lnSpcReduction="20000"/>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The first challenge was in truly understanding what the question was asking for and how to best display it. The question is not simply looking for the means (or average weight) but the distribution of data for both positions to determine if there is a consistent difference in the weight of players at a given position. The shape of the data is not the key determinant in this question. Boxplots give a visual that shows the spread of data. Using this visualization, it appears that Centers ( C ) are generally heavier than Forwards (F). The quartiles and median appear at a heavier weight.</a:t>
            </a:r>
          </a:p>
        </p:txBody>
      </p:sp>
      <p:pic>
        <p:nvPicPr>
          <p:cNvPr id="11" name="Picture 10" descr="A screenshot of a computer program&#10;&#10;AI-generated content may be incorrect.">
            <a:extLst>
              <a:ext uri="{FF2B5EF4-FFF2-40B4-BE49-F238E27FC236}">
                <a16:creationId xmlns:a16="http://schemas.microsoft.com/office/drawing/2014/main" id="{E0189EE0-4159-A1B0-0D1B-A25498D1A436}"/>
              </a:ext>
            </a:extLst>
          </p:cNvPr>
          <p:cNvPicPr>
            <a:picLocks noChangeAspect="1"/>
          </p:cNvPicPr>
          <p:nvPr/>
        </p:nvPicPr>
        <p:blipFill>
          <a:blip r:embed="rId4"/>
          <a:stretch>
            <a:fillRect/>
          </a:stretch>
        </p:blipFill>
        <p:spPr>
          <a:xfrm>
            <a:off x="6242343" y="1417509"/>
            <a:ext cx="5286511" cy="3717735"/>
          </a:xfrm>
          <a:prstGeom prst="rect">
            <a:avLst/>
          </a:prstGeom>
        </p:spPr>
      </p:pic>
    </p:spTree>
    <p:extLst>
      <p:ext uri="{BB962C8B-B14F-4D97-AF65-F5344CB8AC3E}">
        <p14:creationId xmlns:p14="http://schemas.microsoft.com/office/powerpoint/2010/main" val="1483319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5871D-34FD-C53D-0C15-D6A20B587D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FF2A5-6C7F-5B95-9B9B-0F3166A9AF30}"/>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02308574-4592-0A58-8B34-643EB535C833}"/>
              </a:ext>
            </a:extLst>
          </p:cNvPr>
          <p:cNvSpPr txBox="1"/>
          <p:nvPr/>
        </p:nvSpPr>
        <p:spPr>
          <a:xfrm>
            <a:off x="1155598" y="771178"/>
            <a:ext cx="10174901" cy="646331"/>
          </a:xfrm>
          <a:prstGeom prst="rect">
            <a:avLst/>
          </a:prstGeom>
          <a:noFill/>
        </p:spPr>
        <p:txBody>
          <a:bodyPr wrap="none" rtlCol="0">
            <a:spAutoFit/>
          </a:bodyPr>
          <a:lstStyle/>
          <a:p>
            <a:pPr marL="342900" indent="-342900">
              <a:buFont typeface="+mj-lt"/>
              <a:buAutoNum type="arabicPeriod" startAt="3"/>
            </a:pPr>
            <a:r>
              <a:rPr lang="en-US" dirty="0"/>
              <a:t>Use the dataset to visually investigate if the distribution of the height of centers C is greater than the</a:t>
            </a:r>
          </a:p>
          <a:p>
            <a:r>
              <a:rPr lang="en-US" dirty="0"/>
              <a:t>Distribution of the height of forwards F.</a:t>
            </a:r>
          </a:p>
        </p:txBody>
      </p:sp>
      <p:sp>
        <p:nvSpPr>
          <p:cNvPr id="9" name="Content Placeholder 2">
            <a:extLst>
              <a:ext uri="{FF2B5EF4-FFF2-40B4-BE49-F238E27FC236}">
                <a16:creationId xmlns:a16="http://schemas.microsoft.com/office/drawing/2014/main" id="{DD6F9214-C6A2-3EDC-0675-E599DC76EB25}"/>
              </a:ext>
            </a:extLst>
          </p:cNvPr>
          <p:cNvSpPr txBox="1">
            <a:spLocks/>
          </p:cNvSpPr>
          <p:nvPr/>
        </p:nvSpPr>
        <p:spPr>
          <a:xfrm>
            <a:off x="1023397" y="5410371"/>
            <a:ext cx="10173491" cy="1336418"/>
          </a:xfrm>
          <a:prstGeom prst="rect">
            <a:avLst/>
          </a:prstGeom>
        </p:spPr>
        <p:txBody>
          <a:bodyPr vert="horz" lIns="91440" tIns="45720" rIns="91440" bIns="45720" rtlCol="0">
            <a:normAutofit fontScale="92500" lnSpcReduction="10000"/>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The first run of data did not produce visuals, which lead to the discovery that the height information was text. Tidying up this data was required to obtain the height in total inches for plotting. Using the visualization, it appears that the height of Centers ( C ) is greater than the height of Forwards (F). Given the positive relationship between height and body mass in athletes, one might expect taller players to also weigh more; however, this assumption should be evaluated using the data. </a:t>
            </a:r>
          </a:p>
        </p:txBody>
      </p:sp>
      <p:pic>
        <p:nvPicPr>
          <p:cNvPr id="5" name="Picture 4" descr="A graph of a diagram&#10;&#10;AI-generated content may be incorrect.">
            <a:extLst>
              <a:ext uri="{FF2B5EF4-FFF2-40B4-BE49-F238E27FC236}">
                <a16:creationId xmlns:a16="http://schemas.microsoft.com/office/drawing/2014/main" id="{65947488-A49C-F4FE-D42F-C3E91E0BFB32}"/>
              </a:ext>
            </a:extLst>
          </p:cNvPr>
          <p:cNvPicPr>
            <a:picLocks noChangeAspect="1"/>
          </p:cNvPicPr>
          <p:nvPr/>
        </p:nvPicPr>
        <p:blipFill>
          <a:blip r:embed="rId3"/>
          <a:stretch>
            <a:fillRect/>
          </a:stretch>
        </p:blipFill>
        <p:spPr>
          <a:xfrm>
            <a:off x="1152143" y="1481328"/>
            <a:ext cx="4761293" cy="3653916"/>
          </a:xfrm>
          <a:prstGeom prst="rect">
            <a:avLst/>
          </a:prstGeom>
        </p:spPr>
      </p:pic>
      <p:pic>
        <p:nvPicPr>
          <p:cNvPr id="8" name="Picture 7" descr="A screenshot of a computer program&#10;&#10;AI-generated content may be incorrect.">
            <a:extLst>
              <a:ext uri="{FF2B5EF4-FFF2-40B4-BE49-F238E27FC236}">
                <a16:creationId xmlns:a16="http://schemas.microsoft.com/office/drawing/2014/main" id="{DB24CD49-B4BF-93A7-4300-8BED4AE63351}"/>
              </a:ext>
            </a:extLst>
          </p:cNvPr>
          <p:cNvPicPr>
            <a:picLocks noChangeAspect="1"/>
          </p:cNvPicPr>
          <p:nvPr/>
        </p:nvPicPr>
        <p:blipFill>
          <a:blip r:embed="rId4"/>
          <a:stretch>
            <a:fillRect/>
          </a:stretch>
        </p:blipFill>
        <p:spPr>
          <a:xfrm>
            <a:off x="6243048" y="1417509"/>
            <a:ext cx="5458845" cy="3717735"/>
          </a:xfrm>
          <a:prstGeom prst="rect">
            <a:avLst/>
          </a:prstGeom>
        </p:spPr>
      </p:pic>
    </p:spTree>
    <p:extLst>
      <p:ext uri="{BB962C8B-B14F-4D97-AF65-F5344CB8AC3E}">
        <p14:creationId xmlns:p14="http://schemas.microsoft.com/office/powerpoint/2010/main" val="68285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C4E56-25DA-1CA3-49C1-164C8012D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520A7-A98E-70C0-484E-3477B7654B2B}"/>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0A5DE3CA-268F-987C-273D-FAE2ABE3198A}"/>
              </a:ext>
            </a:extLst>
          </p:cNvPr>
          <p:cNvSpPr txBox="1"/>
          <p:nvPr/>
        </p:nvSpPr>
        <p:spPr>
          <a:xfrm>
            <a:off x="1155598" y="771178"/>
            <a:ext cx="10754804" cy="369332"/>
          </a:xfrm>
          <a:prstGeom prst="rect">
            <a:avLst/>
          </a:prstGeom>
          <a:noFill/>
        </p:spPr>
        <p:txBody>
          <a:bodyPr wrap="none" rtlCol="0">
            <a:spAutoFit/>
          </a:bodyPr>
          <a:lstStyle/>
          <a:p>
            <a:pPr marL="342900" indent="-342900">
              <a:buFont typeface="+mj-lt"/>
              <a:buAutoNum type="arabicPeriod" startAt="4"/>
            </a:pPr>
            <a:r>
              <a:rPr lang="en-US" dirty="0"/>
              <a:t>Use the dataset to visually investigate if the distribution of height is different between any of the positions.</a:t>
            </a:r>
          </a:p>
        </p:txBody>
      </p:sp>
      <p:sp>
        <p:nvSpPr>
          <p:cNvPr id="9" name="Content Placeholder 2">
            <a:extLst>
              <a:ext uri="{FF2B5EF4-FFF2-40B4-BE49-F238E27FC236}">
                <a16:creationId xmlns:a16="http://schemas.microsoft.com/office/drawing/2014/main" id="{784635F6-7148-70B2-43D9-B431760C98BC}"/>
              </a:ext>
            </a:extLst>
          </p:cNvPr>
          <p:cNvSpPr txBox="1">
            <a:spLocks/>
          </p:cNvSpPr>
          <p:nvPr/>
        </p:nvSpPr>
        <p:spPr>
          <a:xfrm>
            <a:off x="1023397" y="5410371"/>
            <a:ext cx="10173491" cy="1336418"/>
          </a:xfrm>
          <a:prstGeom prst="rect">
            <a:avLst/>
          </a:prstGeom>
        </p:spPr>
        <p:txBody>
          <a:bodyPr vert="horz" lIns="91440" tIns="45720" rIns="91440" bIns="45720" rtlCol="0">
            <a:normAutofit/>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Using facet_wrap (one variable) display of boxplots provides a clean way to examine each position with relation to height. Side-by-side boxplots could have also been used. Based on the visualization, positions that include Centers (C, C-F and F-C) appear to have greater height in inches.</a:t>
            </a:r>
          </a:p>
        </p:txBody>
      </p:sp>
      <p:pic>
        <p:nvPicPr>
          <p:cNvPr id="10" name="Picture 9" descr="A screenshot of a graph&#10;&#10;AI-generated content may be incorrect.">
            <a:extLst>
              <a:ext uri="{FF2B5EF4-FFF2-40B4-BE49-F238E27FC236}">
                <a16:creationId xmlns:a16="http://schemas.microsoft.com/office/drawing/2014/main" id="{24D773E9-B3FF-2D22-66EE-A9024A201824}"/>
              </a:ext>
            </a:extLst>
          </p:cNvPr>
          <p:cNvPicPr>
            <a:picLocks noChangeAspect="1"/>
          </p:cNvPicPr>
          <p:nvPr/>
        </p:nvPicPr>
        <p:blipFill>
          <a:blip r:embed="rId3"/>
          <a:stretch>
            <a:fillRect/>
          </a:stretch>
        </p:blipFill>
        <p:spPr>
          <a:xfrm>
            <a:off x="1255901" y="1415637"/>
            <a:ext cx="4761840" cy="3943829"/>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7FA34724-6A03-43B1-C679-235ADDEE0C48}"/>
              </a:ext>
            </a:extLst>
          </p:cNvPr>
          <p:cNvPicPr>
            <a:picLocks noChangeAspect="1"/>
          </p:cNvPicPr>
          <p:nvPr/>
        </p:nvPicPr>
        <p:blipFill>
          <a:blip r:embed="rId4"/>
          <a:stretch>
            <a:fillRect/>
          </a:stretch>
        </p:blipFill>
        <p:spPr>
          <a:xfrm>
            <a:off x="6262859" y="1393782"/>
            <a:ext cx="5167141" cy="3911600"/>
          </a:xfrm>
          <a:prstGeom prst="rect">
            <a:avLst/>
          </a:prstGeom>
        </p:spPr>
      </p:pic>
    </p:spTree>
    <p:extLst>
      <p:ext uri="{BB962C8B-B14F-4D97-AF65-F5344CB8AC3E}">
        <p14:creationId xmlns:p14="http://schemas.microsoft.com/office/powerpoint/2010/main" val="2648111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C0D0-0A20-9122-6DCD-436E01BFD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5C56A-8003-8A96-79C0-4B9072310D54}"/>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E82E24BD-D9F0-DF3E-51FC-EBB39D8EF1AD}"/>
              </a:ext>
            </a:extLst>
          </p:cNvPr>
          <p:cNvSpPr txBox="1"/>
          <p:nvPr/>
        </p:nvSpPr>
        <p:spPr>
          <a:xfrm>
            <a:off x="1155598" y="771178"/>
            <a:ext cx="8841716" cy="646331"/>
          </a:xfrm>
          <a:prstGeom prst="rect">
            <a:avLst/>
          </a:prstGeom>
          <a:noFill/>
        </p:spPr>
        <p:txBody>
          <a:bodyPr wrap="none" rtlCol="0">
            <a:spAutoFit/>
          </a:bodyPr>
          <a:lstStyle/>
          <a:p>
            <a:pPr marL="342900" indent="-342900">
              <a:buFont typeface="+mj-lt"/>
              <a:buAutoNum type="arabicPeriod" startAt="5"/>
            </a:pPr>
            <a:r>
              <a:rPr lang="en-US" dirty="0"/>
              <a:t>Use the dataset to investigate how the player’s height is related to the player’s weight.</a:t>
            </a:r>
          </a:p>
          <a:p>
            <a:r>
              <a:rPr lang="en-US" dirty="0"/>
              <a:t>How does height change as the weight changes?</a:t>
            </a:r>
          </a:p>
        </p:txBody>
      </p:sp>
      <p:sp>
        <p:nvSpPr>
          <p:cNvPr id="9" name="Content Placeholder 2">
            <a:extLst>
              <a:ext uri="{FF2B5EF4-FFF2-40B4-BE49-F238E27FC236}">
                <a16:creationId xmlns:a16="http://schemas.microsoft.com/office/drawing/2014/main" id="{A12231D8-986B-8E83-7B8E-1A0DE0B28077}"/>
              </a:ext>
            </a:extLst>
          </p:cNvPr>
          <p:cNvSpPr txBox="1">
            <a:spLocks/>
          </p:cNvSpPr>
          <p:nvPr/>
        </p:nvSpPr>
        <p:spPr>
          <a:xfrm>
            <a:off x="1023397" y="5410371"/>
            <a:ext cx="10173491" cy="1336418"/>
          </a:xfrm>
          <a:prstGeom prst="rect">
            <a:avLst/>
          </a:prstGeom>
        </p:spPr>
        <p:txBody>
          <a:bodyPr vert="horz" lIns="91440" tIns="45720" rIns="91440" bIns="45720" rtlCol="0">
            <a:normAutofit/>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The visualization shows a general relationship between height and weight. It does not show cause and effect or any differences across positions.</a:t>
            </a:r>
          </a:p>
        </p:txBody>
      </p:sp>
      <p:pic>
        <p:nvPicPr>
          <p:cNvPr id="11" name="Picture 10" descr="A graph with a blue line&#10;&#10;AI-generated content may be incorrect.">
            <a:extLst>
              <a:ext uri="{FF2B5EF4-FFF2-40B4-BE49-F238E27FC236}">
                <a16:creationId xmlns:a16="http://schemas.microsoft.com/office/drawing/2014/main" id="{3C85107C-B030-D4D0-925D-06C77345F3F2}"/>
              </a:ext>
            </a:extLst>
          </p:cNvPr>
          <p:cNvPicPr>
            <a:picLocks noChangeAspect="1"/>
          </p:cNvPicPr>
          <p:nvPr/>
        </p:nvPicPr>
        <p:blipFill>
          <a:blip r:embed="rId3"/>
          <a:stretch>
            <a:fillRect/>
          </a:stretch>
        </p:blipFill>
        <p:spPr>
          <a:xfrm>
            <a:off x="1255902" y="1417509"/>
            <a:ext cx="4971904" cy="3806889"/>
          </a:xfrm>
          <a:prstGeom prst="rect">
            <a:avLst/>
          </a:prstGeom>
        </p:spPr>
      </p:pic>
      <p:pic>
        <p:nvPicPr>
          <p:cNvPr id="14" name="Picture 13" descr="A screenshot of a computer code&#10;&#10;AI-generated content may be incorrect.">
            <a:extLst>
              <a:ext uri="{FF2B5EF4-FFF2-40B4-BE49-F238E27FC236}">
                <a16:creationId xmlns:a16="http://schemas.microsoft.com/office/drawing/2014/main" id="{904A6055-646D-D51E-1D30-AB3036AA9F29}"/>
              </a:ext>
            </a:extLst>
          </p:cNvPr>
          <p:cNvPicPr>
            <a:picLocks noChangeAspect="1"/>
          </p:cNvPicPr>
          <p:nvPr/>
        </p:nvPicPr>
        <p:blipFill>
          <a:blip r:embed="rId4"/>
          <a:stretch>
            <a:fillRect/>
          </a:stretch>
        </p:blipFill>
        <p:spPr>
          <a:xfrm>
            <a:off x="6487827" y="1417509"/>
            <a:ext cx="5214021" cy="3806889"/>
          </a:xfrm>
          <a:prstGeom prst="rect">
            <a:avLst/>
          </a:prstGeom>
        </p:spPr>
      </p:pic>
    </p:spTree>
    <p:extLst>
      <p:ext uri="{BB962C8B-B14F-4D97-AF65-F5344CB8AC3E}">
        <p14:creationId xmlns:p14="http://schemas.microsoft.com/office/powerpoint/2010/main" val="973620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9F52-FCEF-2106-CF0C-E3B78ED64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A36D8-C67E-B57D-5780-5570C99BF80C}"/>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8DC1480F-06E8-A236-4A1C-F1C9D014AC71}"/>
              </a:ext>
            </a:extLst>
          </p:cNvPr>
          <p:cNvSpPr txBox="1"/>
          <p:nvPr/>
        </p:nvSpPr>
        <p:spPr>
          <a:xfrm>
            <a:off x="1155598" y="771178"/>
            <a:ext cx="9190593" cy="646331"/>
          </a:xfrm>
          <a:prstGeom prst="rect">
            <a:avLst/>
          </a:prstGeom>
          <a:noFill/>
        </p:spPr>
        <p:txBody>
          <a:bodyPr wrap="none" rtlCol="0">
            <a:spAutoFit/>
          </a:bodyPr>
          <a:lstStyle/>
          <a:p>
            <a:pPr marL="342900" indent="-342900">
              <a:buFont typeface="+mj-lt"/>
              <a:buAutoNum type="arabicPeriod" startAt="6"/>
            </a:pPr>
            <a:r>
              <a:rPr lang="en-US" dirty="0"/>
              <a:t>Is there any difference in the relationship between height and weight between positions? </a:t>
            </a:r>
          </a:p>
          <a:p>
            <a:r>
              <a:rPr lang="en-US" dirty="0"/>
              <a:t>Are height and weight related differently for different positions?</a:t>
            </a:r>
          </a:p>
        </p:txBody>
      </p:sp>
      <p:sp>
        <p:nvSpPr>
          <p:cNvPr id="9" name="Content Placeholder 2">
            <a:extLst>
              <a:ext uri="{FF2B5EF4-FFF2-40B4-BE49-F238E27FC236}">
                <a16:creationId xmlns:a16="http://schemas.microsoft.com/office/drawing/2014/main" id="{727DC9FC-8FC8-6503-C00C-7D566C038EA0}"/>
              </a:ext>
            </a:extLst>
          </p:cNvPr>
          <p:cNvSpPr txBox="1">
            <a:spLocks/>
          </p:cNvSpPr>
          <p:nvPr/>
        </p:nvSpPr>
        <p:spPr>
          <a:xfrm>
            <a:off x="1023397" y="5410371"/>
            <a:ext cx="10173491" cy="1336418"/>
          </a:xfrm>
          <a:prstGeom prst="rect">
            <a:avLst/>
          </a:prstGeom>
        </p:spPr>
        <p:txBody>
          <a:bodyPr vert="horz" lIns="91440" tIns="45720" rIns="91440" bIns="45720" rtlCol="0">
            <a:normAutofit fontScale="92500" lnSpcReduction="20000"/>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Using jitter with faceted scatterplots and smoothing, allows visualization that shows a general relation between height and weight among positions. However, it also shows that for some positions the relation is not as tight along the smoothing line (points are further spread out) so there is variability across positions. For example, looking at the distribution of Centers versus Forward-Guard shows variability. Additional evaluation of the data would need to be conducted to strengthen statements about the relationship.</a:t>
            </a:r>
          </a:p>
        </p:txBody>
      </p:sp>
      <p:pic>
        <p:nvPicPr>
          <p:cNvPr id="6" name="Picture 5" descr="A graph of weight by position&#10;&#10;AI-generated content may be incorrect.">
            <a:extLst>
              <a:ext uri="{FF2B5EF4-FFF2-40B4-BE49-F238E27FC236}">
                <a16:creationId xmlns:a16="http://schemas.microsoft.com/office/drawing/2014/main" id="{80215E58-A7BB-1ADC-7D36-E7114F98A403}"/>
              </a:ext>
            </a:extLst>
          </p:cNvPr>
          <p:cNvPicPr>
            <a:picLocks noChangeAspect="1"/>
          </p:cNvPicPr>
          <p:nvPr/>
        </p:nvPicPr>
        <p:blipFill>
          <a:blip r:embed="rId3"/>
          <a:stretch>
            <a:fillRect/>
          </a:stretch>
        </p:blipFill>
        <p:spPr>
          <a:xfrm>
            <a:off x="1255901" y="1417509"/>
            <a:ext cx="5004411" cy="3930475"/>
          </a:xfrm>
          <a:prstGeom prst="rect">
            <a:avLst/>
          </a:prstGeom>
        </p:spPr>
      </p:pic>
      <p:pic>
        <p:nvPicPr>
          <p:cNvPr id="10" name="Picture 9" descr="A screenshot of a computer program&#10;&#10;AI-generated content may be incorrect.">
            <a:extLst>
              <a:ext uri="{FF2B5EF4-FFF2-40B4-BE49-F238E27FC236}">
                <a16:creationId xmlns:a16="http://schemas.microsoft.com/office/drawing/2014/main" id="{5DB6C0A6-43CE-7097-BFD4-B6FD4097A600}"/>
              </a:ext>
            </a:extLst>
          </p:cNvPr>
          <p:cNvPicPr>
            <a:picLocks noChangeAspect="1"/>
          </p:cNvPicPr>
          <p:nvPr/>
        </p:nvPicPr>
        <p:blipFill>
          <a:blip r:embed="rId4"/>
          <a:stretch>
            <a:fillRect/>
          </a:stretch>
        </p:blipFill>
        <p:spPr>
          <a:xfrm>
            <a:off x="6430073" y="1417509"/>
            <a:ext cx="5049354" cy="3930475"/>
          </a:xfrm>
          <a:prstGeom prst="rect">
            <a:avLst/>
          </a:prstGeom>
        </p:spPr>
      </p:pic>
    </p:spTree>
    <p:extLst>
      <p:ext uri="{BB962C8B-B14F-4D97-AF65-F5344CB8AC3E}">
        <p14:creationId xmlns:p14="http://schemas.microsoft.com/office/powerpoint/2010/main" val="1831784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DE21C-BADD-3C7A-FCD4-0CFC7AA76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9B3C7-C76A-EEF0-9E5F-8E6C13BE7B8C}"/>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AC0DA8C2-7CA7-3BDF-55DA-235CF2D56CC9}"/>
              </a:ext>
            </a:extLst>
          </p:cNvPr>
          <p:cNvSpPr txBox="1"/>
          <p:nvPr/>
        </p:nvSpPr>
        <p:spPr>
          <a:xfrm>
            <a:off x="1155598" y="771178"/>
            <a:ext cx="10487615" cy="646331"/>
          </a:xfrm>
          <a:prstGeom prst="rect">
            <a:avLst/>
          </a:prstGeom>
          <a:noFill/>
        </p:spPr>
        <p:txBody>
          <a:bodyPr wrap="none" rtlCol="0">
            <a:spAutoFit/>
          </a:bodyPr>
          <a:lstStyle/>
          <a:p>
            <a:pPr marL="342900" indent="-342900">
              <a:buFont typeface="+mj-lt"/>
              <a:buAutoNum type="arabicPeriod" startAt="7"/>
            </a:pPr>
            <a:r>
              <a:rPr lang="en-US" dirty="0"/>
              <a:t>A historian would like to investigate the claim that the heights of players have increased over the years.</a:t>
            </a:r>
          </a:p>
          <a:p>
            <a:r>
              <a:rPr lang="en-US" dirty="0"/>
              <a:t>Analyze this claim graphically/visually.</a:t>
            </a:r>
          </a:p>
        </p:txBody>
      </p:sp>
      <p:sp>
        <p:nvSpPr>
          <p:cNvPr id="9" name="Content Placeholder 2">
            <a:extLst>
              <a:ext uri="{FF2B5EF4-FFF2-40B4-BE49-F238E27FC236}">
                <a16:creationId xmlns:a16="http://schemas.microsoft.com/office/drawing/2014/main" id="{E5A6EDD1-EFB1-F52C-D0E1-1B485ECB8B7C}"/>
              </a:ext>
            </a:extLst>
          </p:cNvPr>
          <p:cNvSpPr txBox="1">
            <a:spLocks/>
          </p:cNvSpPr>
          <p:nvPr/>
        </p:nvSpPr>
        <p:spPr>
          <a:xfrm>
            <a:off x="1023397" y="5410371"/>
            <a:ext cx="10173491" cy="1336418"/>
          </a:xfrm>
          <a:prstGeom prst="rect">
            <a:avLst/>
          </a:prstGeom>
        </p:spPr>
        <p:txBody>
          <a:bodyPr vert="horz" lIns="91440" tIns="45720" rIns="91440" bIns="45720" rtlCol="0">
            <a:normAutofit/>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Using color to help with readability over the decades and a smoothing line, there is a gradual trend towards player heights having increased over the years. The visualization does not indicate a drastic increase.</a:t>
            </a:r>
          </a:p>
        </p:txBody>
      </p:sp>
      <p:pic>
        <p:nvPicPr>
          <p:cNvPr id="5" name="Picture 4" descr="A graph with colored dots&#10;&#10;AI-generated content may be incorrect.">
            <a:extLst>
              <a:ext uri="{FF2B5EF4-FFF2-40B4-BE49-F238E27FC236}">
                <a16:creationId xmlns:a16="http://schemas.microsoft.com/office/drawing/2014/main" id="{21172C74-FA25-AE68-FE1F-7A1E5CAD58F1}"/>
              </a:ext>
            </a:extLst>
          </p:cNvPr>
          <p:cNvPicPr>
            <a:picLocks noChangeAspect="1"/>
          </p:cNvPicPr>
          <p:nvPr/>
        </p:nvPicPr>
        <p:blipFill>
          <a:blip r:embed="rId3"/>
          <a:stretch>
            <a:fillRect/>
          </a:stretch>
        </p:blipFill>
        <p:spPr>
          <a:xfrm>
            <a:off x="1396313" y="1417509"/>
            <a:ext cx="4869973" cy="3930475"/>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2F6D0878-6542-E057-AAEA-CCF6E8C8A433}"/>
              </a:ext>
            </a:extLst>
          </p:cNvPr>
          <p:cNvPicPr>
            <a:picLocks noChangeAspect="1"/>
          </p:cNvPicPr>
          <p:nvPr/>
        </p:nvPicPr>
        <p:blipFill>
          <a:blip r:embed="rId4"/>
          <a:stretch>
            <a:fillRect/>
          </a:stretch>
        </p:blipFill>
        <p:spPr>
          <a:xfrm>
            <a:off x="6507001" y="1417509"/>
            <a:ext cx="5034210" cy="3821756"/>
          </a:xfrm>
          <a:prstGeom prst="rect">
            <a:avLst/>
          </a:prstGeom>
        </p:spPr>
      </p:pic>
    </p:spTree>
    <p:extLst>
      <p:ext uri="{BB962C8B-B14F-4D97-AF65-F5344CB8AC3E}">
        <p14:creationId xmlns:p14="http://schemas.microsoft.com/office/powerpoint/2010/main" val="2980177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C8287-2F9D-0F7C-7F47-A1C790CA5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4F9D8-9292-9FB2-814E-C0BCBFB5AF39}"/>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722B5C26-4FDF-46C3-2B28-507C8E19DE08}"/>
              </a:ext>
            </a:extLst>
          </p:cNvPr>
          <p:cNvSpPr txBox="1"/>
          <p:nvPr/>
        </p:nvSpPr>
        <p:spPr>
          <a:xfrm>
            <a:off x="1155598" y="771178"/>
            <a:ext cx="8466292" cy="369332"/>
          </a:xfrm>
          <a:prstGeom prst="rect">
            <a:avLst/>
          </a:prstGeom>
          <a:noFill/>
        </p:spPr>
        <p:txBody>
          <a:bodyPr wrap="none" rtlCol="0">
            <a:spAutoFit/>
          </a:bodyPr>
          <a:lstStyle/>
          <a:p>
            <a:pPr marL="342900" indent="-342900">
              <a:buFont typeface="+mj-lt"/>
              <a:buAutoNum type="arabicPeriod" startAt="8"/>
            </a:pPr>
            <a:r>
              <a:rPr lang="en-US" dirty="0"/>
              <a:t>Create a 3D plot of height vs. weight vs. year and color code the points by position.</a:t>
            </a:r>
          </a:p>
        </p:txBody>
      </p:sp>
      <p:sp>
        <p:nvSpPr>
          <p:cNvPr id="9" name="Content Placeholder 2">
            <a:extLst>
              <a:ext uri="{FF2B5EF4-FFF2-40B4-BE49-F238E27FC236}">
                <a16:creationId xmlns:a16="http://schemas.microsoft.com/office/drawing/2014/main" id="{CDA4CAF0-662D-F834-632B-423640EF69D4}"/>
              </a:ext>
            </a:extLst>
          </p:cNvPr>
          <p:cNvSpPr txBox="1">
            <a:spLocks/>
          </p:cNvSpPr>
          <p:nvPr/>
        </p:nvSpPr>
        <p:spPr>
          <a:xfrm>
            <a:off x="1023397" y="5855216"/>
            <a:ext cx="10173491" cy="1336418"/>
          </a:xfrm>
          <a:prstGeom prst="rect">
            <a:avLst/>
          </a:prstGeom>
        </p:spPr>
        <p:txBody>
          <a:bodyPr vert="horz" lIns="91440" tIns="45720" rIns="91440" bIns="45720" rtlCol="0">
            <a:normAutofit/>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This is a visually interesting plot but one that is difficult to read due to the large dataset and points where players could have the same point value. Overloading is taking place here in terms of data values and color. </a:t>
            </a:r>
          </a:p>
        </p:txBody>
      </p:sp>
      <p:pic>
        <p:nvPicPr>
          <p:cNvPr id="6" name="Picture 5" descr="A graph with numbers and dots&#10;&#10;AI-generated content may be incorrect.">
            <a:extLst>
              <a:ext uri="{FF2B5EF4-FFF2-40B4-BE49-F238E27FC236}">
                <a16:creationId xmlns:a16="http://schemas.microsoft.com/office/drawing/2014/main" id="{21340CE2-416D-49E0-958E-B2435507F264}"/>
              </a:ext>
            </a:extLst>
          </p:cNvPr>
          <p:cNvPicPr>
            <a:picLocks noChangeAspect="1"/>
          </p:cNvPicPr>
          <p:nvPr/>
        </p:nvPicPr>
        <p:blipFill>
          <a:blip r:embed="rId3"/>
          <a:stretch>
            <a:fillRect/>
          </a:stretch>
        </p:blipFill>
        <p:spPr>
          <a:xfrm>
            <a:off x="1234339" y="1444901"/>
            <a:ext cx="5166461" cy="3965469"/>
          </a:xfrm>
          <a:prstGeom prst="rect">
            <a:avLst/>
          </a:prstGeom>
        </p:spPr>
      </p:pic>
      <p:pic>
        <p:nvPicPr>
          <p:cNvPr id="10" name="Picture 9" descr="A computer screen shot of a computer code&#10;&#10;AI-generated content may be incorrect.">
            <a:extLst>
              <a:ext uri="{FF2B5EF4-FFF2-40B4-BE49-F238E27FC236}">
                <a16:creationId xmlns:a16="http://schemas.microsoft.com/office/drawing/2014/main" id="{3058BAFE-4D71-F15B-D8F6-F47212C9FB5D}"/>
              </a:ext>
            </a:extLst>
          </p:cNvPr>
          <p:cNvPicPr>
            <a:picLocks noChangeAspect="1"/>
          </p:cNvPicPr>
          <p:nvPr/>
        </p:nvPicPr>
        <p:blipFill>
          <a:blip r:embed="rId4"/>
          <a:stretch>
            <a:fillRect/>
          </a:stretch>
        </p:blipFill>
        <p:spPr>
          <a:xfrm>
            <a:off x="6611742" y="1444901"/>
            <a:ext cx="5077750" cy="1916137"/>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BED07E87-416D-54DE-A264-E32C603D131B}"/>
              </a:ext>
            </a:extLst>
          </p:cNvPr>
          <p:cNvPicPr>
            <a:picLocks noChangeAspect="1"/>
          </p:cNvPicPr>
          <p:nvPr/>
        </p:nvPicPr>
        <p:blipFill>
          <a:blip r:embed="rId5"/>
          <a:stretch>
            <a:fillRect/>
          </a:stretch>
        </p:blipFill>
        <p:spPr>
          <a:xfrm>
            <a:off x="6624098" y="3373395"/>
            <a:ext cx="5077749" cy="2326699"/>
          </a:xfrm>
          <a:prstGeom prst="rect">
            <a:avLst/>
          </a:prstGeom>
        </p:spPr>
      </p:pic>
    </p:spTree>
    <p:extLst>
      <p:ext uri="{BB962C8B-B14F-4D97-AF65-F5344CB8AC3E}">
        <p14:creationId xmlns:p14="http://schemas.microsoft.com/office/powerpoint/2010/main" val="423410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84304-D370-5AA5-F760-A845125E9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1DBA9-387D-55EA-D3A3-DA1C8E1CD9A2}"/>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3314E437-868B-A16F-D404-8B33A7806A78}"/>
              </a:ext>
            </a:extLst>
          </p:cNvPr>
          <p:cNvSpPr txBox="1"/>
          <p:nvPr/>
        </p:nvSpPr>
        <p:spPr>
          <a:xfrm>
            <a:off x="1155598" y="771178"/>
            <a:ext cx="8463599" cy="369332"/>
          </a:xfrm>
          <a:prstGeom prst="rect">
            <a:avLst/>
          </a:prstGeom>
          <a:noFill/>
        </p:spPr>
        <p:txBody>
          <a:bodyPr wrap="none" rtlCol="0">
            <a:spAutoFit/>
          </a:bodyPr>
          <a:lstStyle/>
          <a:p>
            <a:pPr marL="342900" indent="-342900">
              <a:buFont typeface="+mj-lt"/>
              <a:buAutoNum type="arabicPeriod" startAt="9"/>
            </a:pPr>
            <a:r>
              <a:rPr lang="en-US" dirty="0"/>
              <a:t>Chose a plot to visualize some aspect of the data and provide at least one insight.</a:t>
            </a:r>
          </a:p>
        </p:txBody>
      </p:sp>
      <p:sp>
        <p:nvSpPr>
          <p:cNvPr id="9" name="Content Placeholder 2">
            <a:extLst>
              <a:ext uri="{FF2B5EF4-FFF2-40B4-BE49-F238E27FC236}">
                <a16:creationId xmlns:a16="http://schemas.microsoft.com/office/drawing/2014/main" id="{156A7AAA-3BDE-D163-6087-AA18B14C9582}"/>
              </a:ext>
            </a:extLst>
          </p:cNvPr>
          <p:cNvSpPr txBox="1">
            <a:spLocks/>
          </p:cNvSpPr>
          <p:nvPr/>
        </p:nvSpPr>
        <p:spPr>
          <a:xfrm>
            <a:off x="1023397" y="5706932"/>
            <a:ext cx="10173491" cy="1336418"/>
          </a:xfrm>
          <a:prstGeom prst="rect">
            <a:avLst/>
          </a:prstGeom>
        </p:spPr>
        <p:txBody>
          <a:bodyPr vert="horz" lIns="91440" tIns="45720" rIns="91440" bIns="45720" rtlCol="0">
            <a:normAutofit fontScale="92500" lnSpcReduction="20000"/>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Most of the analysis of weight and height relationship was done using boxplots. I chose a violin plot for this exercise. The violin plot makes it clear that Centers are generally taller, with most players clustered in the low 80-inch range and a noticeable tail extending toward taller heights. Guards, on the other hand, tend to be shorter and much more tightly grouped, showing less variation in height. The hybrid positions fall somewhere in between, with wider and sometimes uneven shapes that suggest a mix of different body types.</a:t>
            </a:r>
          </a:p>
        </p:txBody>
      </p:sp>
      <p:pic>
        <p:nvPicPr>
          <p:cNvPr id="5" name="Picture 4" descr="A graph showing different colored shapes&#10;&#10;AI-generated content may be incorrect.">
            <a:extLst>
              <a:ext uri="{FF2B5EF4-FFF2-40B4-BE49-F238E27FC236}">
                <a16:creationId xmlns:a16="http://schemas.microsoft.com/office/drawing/2014/main" id="{980A3126-9845-E9A9-CA99-8803F73FA384}"/>
              </a:ext>
            </a:extLst>
          </p:cNvPr>
          <p:cNvPicPr>
            <a:picLocks noChangeAspect="1"/>
          </p:cNvPicPr>
          <p:nvPr/>
        </p:nvPicPr>
        <p:blipFill>
          <a:blip r:embed="rId3"/>
          <a:stretch>
            <a:fillRect/>
          </a:stretch>
        </p:blipFill>
        <p:spPr>
          <a:xfrm>
            <a:off x="1255901" y="1295632"/>
            <a:ext cx="5256110" cy="4190768"/>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986A6A14-E730-AE31-1DFA-F8B50B54500A}"/>
              </a:ext>
            </a:extLst>
          </p:cNvPr>
          <p:cNvPicPr>
            <a:picLocks noChangeAspect="1"/>
          </p:cNvPicPr>
          <p:nvPr/>
        </p:nvPicPr>
        <p:blipFill>
          <a:blip r:embed="rId4"/>
          <a:stretch>
            <a:fillRect/>
          </a:stretch>
        </p:blipFill>
        <p:spPr>
          <a:xfrm>
            <a:off x="6759146" y="1295631"/>
            <a:ext cx="4819135" cy="4104271"/>
          </a:xfrm>
          <a:prstGeom prst="rect">
            <a:avLst/>
          </a:prstGeom>
        </p:spPr>
      </p:pic>
    </p:spTree>
    <p:extLst>
      <p:ext uri="{BB962C8B-B14F-4D97-AF65-F5344CB8AC3E}">
        <p14:creationId xmlns:p14="http://schemas.microsoft.com/office/powerpoint/2010/main" val="3888753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F136-1F53-596B-1C59-49BA0E7F0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20D20F-6D79-A9FA-128E-A36EBC21B955}"/>
              </a:ext>
            </a:extLst>
          </p:cNvPr>
          <p:cNvSpPr>
            <a:spLocks noGrp="1"/>
          </p:cNvSpPr>
          <p:nvPr>
            <p:ph type="title"/>
          </p:nvPr>
        </p:nvSpPr>
        <p:spPr>
          <a:xfrm>
            <a:off x="1255901" y="224273"/>
            <a:ext cx="8559165" cy="673724"/>
          </a:xfrm>
        </p:spPr>
        <p:txBody>
          <a:bodyPr>
            <a:normAutofit/>
          </a:bodyPr>
          <a:lstStyle/>
          <a:p>
            <a:r>
              <a:rPr lang="en-US" sz="4000" b="1" dirty="0"/>
              <a:t>For Live Session</a:t>
            </a:r>
          </a:p>
        </p:txBody>
      </p:sp>
      <p:sp>
        <p:nvSpPr>
          <p:cNvPr id="4" name="TextBox 3">
            <a:extLst>
              <a:ext uri="{FF2B5EF4-FFF2-40B4-BE49-F238E27FC236}">
                <a16:creationId xmlns:a16="http://schemas.microsoft.com/office/drawing/2014/main" id="{688CE1A0-F8C3-E8BA-26E3-CDB1AAF4BE01}"/>
              </a:ext>
            </a:extLst>
          </p:cNvPr>
          <p:cNvSpPr txBox="1"/>
          <p:nvPr/>
        </p:nvSpPr>
        <p:spPr>
          <a:xfrm>
            <a:off x="1155598" y="771178"/>
            <a:ext cx="9672520" cy="646331"/>
          </a:xfrm>
          <a:prstGeom prst="rect">
            <a:avLst/>
          </a:prstGeom>
          <a:noFill/>
        </p:spPr>
        <p:txBody>
          <a:bodyPr wrap="none" rtlCol="0">
            <a:spAutoFit/>
          </a:bodyPr>
          <a:lstStyle/>
          <a:p>
            <a:pPr marL="342900" indent="-342900">
              <a:buFont typeface="+mj-lt"/>
              <a:buAutoNum type="arabicPeriod" startAt="10"/>
            </a:pPr>
            <a:r>
              <a:rPr lang="en-US" dirty="0"/>
              <a:t>Using the </a:t>
            </a:r>
            <a:r>
              <a:rPr lang="en-US" dirty="0" err="1"/>
              <a:t>EducationIncome.csv</a:t>
            </a:r>
            <a:r>
              <a:rPr lang="en-US" dirty="0"/>
              <a:t> dataset visually test the claim that the distribution of incomes </a:t>
            </a:r>
          </a:p>
          <a:p>
            <a:r>
              <a:rPr lang="en-US" dirty="0"/>
              <a:t>increase (mean or median) as the education level rises.</a:t>
            </a:r>
          </a:p>
        </p:txBody>
      </p:sp>
      <p:sp>
        <p:nvSpPr>
          <p:cNvPr id="9" name="Content Placeholder 2">
            <a:extLst>
              <a:ext uri="{FF2B5EF4-FFF2-40B4-BE49-F238E27FC236}">
                <a16:creationId xmlns:a16="http://schemas.microsoft.com/office/drawing/2014/main" id="{2A946C33-DB1B-2EBC-6D95-4BDDC1556213}"/>
              </a:ext>
            </a:extLst>
          </p:cNvPr>
          <p:cNvSpPr txBox="1">
            <a:spLocks/>
          </p:cNvSpPr>
          <p:nvPr/>
        </p:nvSpPr>
        <p:spPr>
          <a:xfrm>
            <a:off x="1023397" y="5226908"/>
            <a:ext cx="10173491" cy="1816442"/>
          </a:xfrm>
          <a:prstGeom prst="rect">
            <a:avLst/>
          </a:prstGeom>
        </p:spPr>
        <p:txBody>
          <a:bodyPr vert="horz" lIns="91440" tIns="45720" rIns="91440" bIns="45720" rtlCol="0">
            <a:normAutofit fontScale="85000" lnSpcReduction="10000"/>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dirty="0"/>
              <a:t>Income does rise based on the categories of education. The boxplots show that the median has a gradual increase. The visualization also shows that there is overlap within the categories and because of the categorical nature of the number of years it is difficult to see exactly where the differences lie. Boxplots are used to compare income across education levels that were grouped into categories (12 years, 13–15 years, 16 years, and more than 16 years of education). This makes it easier to see how typical income and variability change as education increases, especially since income is skewed. While boxplots give a clear summary, they don’t show the full shape of the data. Had there been more time a few different visualization techniques would have been used to see if there are better ways to show that income does in fact rise with education.</a:t>
            </a:r>
          </a:p>
        </p:txBody>
      </p:sp>
      <p:pic>
        <p:nvPicPr>
          <p:cNvPr id="6" name="Picture 5" descr="A graph of a bar chart&#10;&#10;AI-generated content may be incorrect.">
            <a:extLst>
              <a:ext uri="{FF2B5EF4-FFF2-40B4-BE49-F238E27FC236}">
                <a16:creationId xmlns:a16="http://schemas.microsoft.com/office/drawing/2014/main" id="{1C1AD4CB-377F-65DD-FCE8-7477926ABCA2}"/>
              </a:ext>
            </a:extLst>
          </p:cNvPr>
          <p:cNvPicPr>
            <a:picLocks noChangeAspect="1"/>
          </p:cNvPicPr>
          <p:nvPr/>
        </p:nvPicPr>
        <p:blipFill>
          <a:blip r:embed="rId3"/>
          <a:stretch>
            <a:fillRect/>
          </a:stretch>
        </p:blipFill>
        <p:spPr>
          <a:xfrm>
            <a:off x="1255901" y="1408672"/>
            <a:ext cx="4657536" cy="3822203"/>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841D44C8-7F41-5DD9-6964-50AB6599938B}"/>
              </a:ext>
            </a:extLst>
          </p:cNvPr>
          <p:cNvPicPr>
            <a:picLocks noChangeAspect="1"/>
          </p:cNvPicPr>
          <p:nvPr/>
        </p:nvPicPr>
        <p:blipFill>
          <a:blip r:embed="rId4"/>
          <a:stretch>
            <a:fillRect/>
          </a:stretch>
        </p:blipFill>
        <p:spPr>
          <a:xfrm>
            <a:off x="6145941" y="1408672"/>
            <a:ext cx="4857379" cy="2157647"/>
          </a:xfrm>
          <a:prstGeom prst="rect">
            <a:avLst/>
          </a:prstGeom>
        </p:spPr>
      </p:pic>
      <p:pic>
        <p:nvPicPr>
          <p:cNvPr id="14" name="Picture 13" descr="A screenshot of a computer code&#10;&#10;AI-generated content may be incorrect.">
            <a:extLst>
              <a:ext uri="{FF2B5EF4-FFF2-40B4-BE49-F238E27FC236}">
                <a16:creationId xmlns:a16="http://schemas.microsoft.com/office/drawing/2014/main" id="{E8E3C949-75C2-AD9C-9FEE-97179F12FF17}"/>
              </a:ext>
            </a:extLst>
          </p:cNvPr>
          <p:cNvPicPr>
            <a:picLocks noChangeAspect="1"/>
          </p:cNvPicPr>
          <p:nvPr/>
        </p:nvPicPr>
        <p:blipFill>
          <a:blip r:embed="rId5"/>
          <a:stretch>
            <a:fillRect/>
          </a:stretch>
        </p:blipFill>
        <p:spPr>
          <a:xfrm>
            <a:off x="6110142" y="3645758"/>
            <a:ext cx="4893178" cy="1469939"/>
          </a:xfrm>
          <a:prstGeom prst="rect">
            <a:avLst/>
          </a:prstGeom>
        </p:spPr>
      </p:pic>
    </p:spTree>
    <p:extLst>
      <p:ext uri="{BB962C8B-B14F-4D97-AF65-F5344CB8AC3E}">
        <p14:creationId xmlns:p14="http://schemas.microsoft.com/office/powerpoint/2010/main" val="3624941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855" y="285637"/>
            <a:ext cx="8559165" cy="616774"/>
          </a:xfrm>
        </p:spPr>
        <p:txBody>
          <a:bodyPr>
            <a:normAutofit fontScale="90000"/>
          </a:bodyPr>
          <a:lstStyle/>
          <a:p>
            <a:r>
              <a:rPr lang="en-US" b="1" dirty="0"/>
              <a:t>Key Takeaways</a:t>
            </a:r>
          </a:p>
        </p:txBody>
      </p:sp>
      <p:sp>
        <p:nvSpPr>
          <p:cNvPr id="3" name="Content Placeholder 2"/>
          <p:cNvSpPr>
            <a:spLocks noGrp="1"/>
          </p:cNvSpPr>
          <p:nvPr>
            <p:ph idx="1"/>
          </p:nvPr>
        </p:nvSpPr>
        <p:spPr>
          <a:xfrm>
            <a:off x="1424624" y="1128069"/>
            <a:ext cx="10224581" cy="5911558"/>
          </a:xfrm>
        </p:spPr>
        <p:txBody>
          <a:bodyPr>
            <a:normAutofit/>
          </a:bodyPr>
          <a:lstStyle/>
          <a:p>
            <a:r>
              <a:rPr lang="en-US" sz="2080" dirty="0"/>
              <a:t>Know the structure of the data. In hindsight, while I was viewing the table players to determine if data was loaded properly, I should have also evaluated how data was imported via R to determine and allowed for cleaner code so that all conversions were done at one time.</a:t>
            </a:r>
          </a:p>
          <a:p>
            <a:r>
              <a:rPr lang="en-US" sz="2080" dirty="0"/>
              <a:t>Boxplots were better for examining distributions. Scatterplots and smoothing were better for evaluating individual data points and trends. Scatterplots though could get overwhelming for large populations of data. This may be where using the distribution of sample means (CLT) would be of better use.</a:t>
            </a:r>
          </a:p>
          <a:p>
            <a:r>
              <a:rPr lang="en-US" sz="2080" dirty="0"/>
              <a:t>The visualization identified overlapping which made it challenging to find any cause and effect without running additional tests.</a:t>
            </a:r>
          </a:p>
          <a:p>
            <a:pPr marL="0" indent="0">
              <a:buNone/>
            </a:pPr>
            <a:endParaRPr lang="en-US" sz="2080" dirty="0"/>
          </a:p>
          <a:p>
            <a:endParaRPr lang="en-US" sz="2080" dirty="0"/>
          </a:p>
        </p:txBody>
      </p:sp>
    </p:spTree>
    <p:extLst>
      <p:ext uri="{BB962C8B-B14F-4D97-AF65-F5344CB8AC3E}">
        <p14:creationId xmlns:p14="http://schemas.microsoft.com/office/powerpoint/2010/main" val="2274954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855" y="285638"/>
            <a:ext cx="8559165" cy="673724"/>
          </a:xfrm>
        </p:spPr>
        <p:txBody>
          <a:bodyPr>
            <a:normAutofit/>
          </a:bodyPr>
          <a:lstStyle/>
          <a:p>
            <a:r>
              <a:rPr lang="en-US" b="1" dirty="0"/>
              <a:t>Question(s)</a:t>
            </a:r>
          </a:p>
        </p:txBody>
      </p:sp>
      <p:sp>
        <p:nvSpPr>
          <p:cNvPr id="3" name="Content Placeholder 2"/>
          <p:cNvSpPr>
            <a:spLocks noGrp="1"/>
          </p:cNvSpPr>
          <p:nvPr>
            <p:ph idx="1"/>
          </p:nvPr>
        </p:nvSpPr>
        <p:spPr>
          <a:xfrm>
            <a:off x="1535151" y="1166731"/>
            <a:ext cx="10012035" cy="536809"/>
          </a:xfrm>
        </p:spPr>
        <p:txBody>
          <a:bodyPr>
            <a:normAutofit/>
          </a:bodyPr>
          <a:lstStyle/>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5" name="Content Placeholder 2">
            <a:extLst>
              <a:ext uri="{FF2B5EF4-FFF2-40B4-BE49-F238E27FC236}">
                <a16:creationId xmlns:a16="http://schemas.microsoft.com/office/drawing/2014/main" id="{2A93B791-20D4-8747-F6C7-7EA0328D605B}"/>
              </a:ext>
            </a:extLst>
          </p:cNvPr>
          <p:cNvSpPr txBox="1">
            <a:spLocks/>
          </p:cNvSpPr>
          <p:nvPr/>
        </p:nvSpPr>
        <p:spPr>
          <a:xfrm>
            <a:off x="1424624" y="1128069"/>
            <a:ext cx="10224581" cy="5911558"/>
          </a:xfrm>
          <a:prstGeom prst="rect">
            <a:avLst/>
          </a:prstGeom>
        </p:spPr>
        <p:txBody>
          <a:bodyPr vert="horz" lIns="91440" tIns="45720" rIns="91440" bIns="45720" rtlCol="0">
            <a:normAutofit/>
          </a:bodyPr>
          <a:lstStyle>
            <a:lvl1pPr marL="372565" indent="-372565" algn="l" defTabSz="887059" rtl="0" eaLnBrk="1" latinLnBrk="0" hangingPunct="1">
              <a:lnSpc>
                <a:spcPct val="94000"/>
              </a:lnSpc>
              <a:spcBef>
                <a:spcPts val="970"/>
              </a:spcBef>
              <a:spcAft>
                <a:spcPts val="194"/>
              </a:spcAft>
              <a:buFont typeface="Franklin Gothic Book" panose="020B0503020102020204" pitchFamily="34" charset="0"/>
              <a:buChar char="■"/>
              <a:defRPr sz="1940" kern="1200" baseline="0">
                <a:solidFill>
                  <a:schemeClr val="tx2"/>
                </a:solidFill>
                <a:latin typeface="+mn-lt"/>
                <a:ea typeface="+mn-ea"/>
                <a:cs typeface="+mn-cs"/>
              </a:defRPr>
            </a:lvl1pPr>
            <a:lvl2pPr marL="88705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940" i="1" kern="1200" baseline="0">
                <a:solidFill>
                  <a:schemeClr val="tx2"/>
                </a:solidFill>
                <a:latin typeface="+mn-lt"/>
                <a:ea typeface="+mn-ea"/>
                <a:cs typeface="+mn-cs"/>
              </a:defRPr>
            </a:lvl2pPr>
            <a:lvl3pPr marL="133058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kern="1200" baseline="0">
                <a:solidFill>
                  <a:schemeClr val="tx2"/>
                </a:solidFill>
                <a:latin typeface="+mn-lt"/>
                <a:ea typeface="+mn-ea"/>
                <a:cs typeface="+mn-cs"/>
              </a:defRPr>
            </a:lvl3pPr>
            <a:lvl4pPr marL="177411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746" i="1" kern="1200" baseline="0">
                <a:solidFill>
                  <a:schemeClr val="tx2"/>
                </a:solidFill>
                <a:latin typeface="+mn-lt"/>
                <a:ea typeface="+mn-ea"/>
                <a:cs typeface="+mn-cs"/>
              </a:defRPr>
            </a:lvl4pPr>
            <a:lvl5pPr marL="2217649"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kern="1200" baseline="0">
                <a:solidFill>
                  <a:schemeClr val="tx2"/>
                </a:solidFill>
                <a:latin typeface="+mn-lt"/>
                <a:ea typeface="+mn-ea"/>
                <a:cs typeface="+mn-cs"/>
              </a:defRPr>
            </a:lvl5pPr>
            <a:lvl6pPr marL="266117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552" i="1" kern="1200" baseline="0">
                <a:solidFill>
                  <a:schemeClr val="tx2"/>
                </a:solidFill>
                <a:latin typeface="+mn-lt"/>
                <a:ea typeface="+mn-ea"/>
                <a:cs typeface="+mn-cs"/>
              </a:defRPr>
            </a:lvl6pPr>
            <a:lvl7pPr marL="310470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7pPr>
            <a:lvl8pPr marL="3548238"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i="1" kern="1200" baseline="0">
                <a:solidFill>
                  <a:schemeClr val="tx2"/>
                </a:solidFill>
                <a:latin typeface="+mn-lt"/>
                <a:ea typeface="+mn-ea"/>
                <a:cs typeface="+mn-cs"/>
              </a:defRPr>
            </a:lvl8pPr>
            <a:lvl9pPr marL="3991767" indent="-372565" algn="l" defTabSz="887059" rtl="0" eaLnBrk="1" latinLnBrk="0" hangingPunct="1">
              <a:lnSpc>
                <a:spcPct val="94000"/>
              </a:lnSpc>
              <a:spcBef>
                <a:spcPts val="485"/>
              </a:spcBef>
              <a:spcAft>
                <a:spcPts val="194"/>
              </a:spcAft>
              <a:buFont typeface="Franklin Gothic Book" panose="020B0503020102020204" pitchFamily="34" charset="0"/>
              <a:buChar char="■"/>
              <a:defRPr sz="1358" kern="1200" baseline="0">
                <a:solidFill>
                  <a:schemeClr val="tx2"/>
                </a:solidFill>
                <a:latin typeface="+mn-lt"/>
                <a:ea typeface="+mn-ea"/>
                <a:cs typeface="+mn-cs"/>
              </a:defRPr>
            </a:lvl9pPr>
          </a:lstStyle>
          <a:p>
            <a:r>
              <a:rPr lang="en-US" sz="2080" dirty="0"/>
              <a:t>I’m going to make an assumption that using CLT and hypothesis testing would have created a situation where we could get to better cause and effect data. Is that accurate or am I oversimplifying possible options based on what we’ve focused on to date?</a:t>
            </a:r>
          </a:p>
          <a:p>
            <a:r>
              <a:rPr lang="en-US" sz="2080" dirty="0"/>
              <a:t>Are there standards for visualization across industries? For example, in Fin Tech do executives resonate with the type of plots that the Economist or WSJ demonstrate? What about agriculture? </a:t>
            </a:r>
          </a:p>
          <a:p>
            <a:pPr marL="0" indent="0">
              <a:buFont typeface="Franklin Gothic Book" panose="020B0503020102020204" pitchFamily="34" charset="0"/>
              <a:buNone/>
            </a:pPr>
            <a:endParaRPr lang="en-US" sz="2080" dirty="0"/>
          </a:p>
          <a:p>
            <a:endParaRPr lang="en-US" sz="2080" dirty="0"/>
          </a:p>
        </p:txBody>
      </p:sp>
    </p:spTree>
    <p:extLst>
      <p:ext uri="{BB962C8B-B14F-4D97-AF65-F5344CB8AC3E}">
        <p14:creationId xmlns:p14="http://schemas.microsoft.com/office/powerpoint/2010/main" val="1598404936"/>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{C7E3BC75-2139-6347-8FE0-AEF47294BE14}tf10001072</Template>
  <TotalTime>35096</TotalTime>
  <Words>1241</Words>
  <Application>Microsoft Macintosh PowerPoint</Application>
  <PresentationFormat>Custom</PresentationFormat>
  <Paragraphs>62</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Calibri</vt:lpstr>
      <vt:lpstr>Franklin Gothic Book</vt:lpstr>
      <vt:lpstr>Crop</vt:lpstr>
      <vt:lpstr>MSDS 6306  Week 2 – VISUALIZATION | ggplot2, plotly </vt:lpstr>
      <vt:lpstr>For Live Session</vt:lpstr>
      <vt:lpstr>For Live Session</vt:lpstr>
      <vt:lpstr>For Live Session</vt:lpstr>
      <vt:lpstr>For Live Session</vt:lpstr>
      <vt:lpstr>For Live Session</vt:lpstr>
      <vt:lpstr>For Live Session</vt:lpstr>
      <vt:lpstr>For Live Session</vt:lpstr>
      <vt:lpstr>For Live Session</vt:lpstr>
      <vt:lpstr>For Live Session</vt:lpstr>
      <vt:lpstr>For Live Session</vt:lpstr>
      <vt:lpstr>Key Takeaways</vt:lpstr>
      <vt:lpstr>Question(s)</vt:lpstr>
    </vt:vector>
  </TitlesOfParts>
  <Company>Cisco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Adverserial Networks(GANs)</dc:title>
  <dc:creator>Asha Mohan</dc:creator>
  <cp:lastModifiedBy>Diane Roberts</cp:lastModifiedBy>
  <cp:revision>128</cp:revision>
  <cp:lastPrinted>2026-01-12T17:58:38Z</cp:lastPrinted>
  <dcterms:created xsi:type="dcterms:W3CDTF">2019-07-20T11:50:41Z</dcterms:created>
  <dcterms:modified xsi:type="dcterms:W3CDTF">2026-01-12T18:26:30Z</dcterms:modified>
</cp:coreProperties>
</file>