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56" r:id="rId2"/>
    <p:sldId id="333" r:id="rId3"/>
    <p:sldId id="257" r:id="rId4"/>
    <p:sldId id="335" r:id="rId5"/>
    <p:sldId id="336" r:id="rId6"/>
    <p:sldId id="337" r:id="rId7"/>
    <p:sldId id="338" r:id="rId8"/>
    <p:sldId id="339" r:id="rId9"/>
    <p:sldId id="340" r:id="rId10"/>
    <p:sldId id="341" r:id="rId11"/>
    <p:sldId id="342" r:id="rId12"/>
    <p:sldId id="332" r:id="rId13"/>
    <p:sldId id="343" r:id="rId14"/>
    <p:sldId id="344" r:id="rId15"/>
    <p:sldId id="345" r:id="rId16"/>
    <p:sldId id="34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84"/>
    <p:restoredTop sz="94694"/>
  </p:normalViewPr>
  <p:slideViewPr>
    <p:cSldViewPr snapToGrid="0" snapToObjects="1">
      <p:cViewPr varScale="1">
        <p:scale>
          <a:sx n="107" d="100"/>
          <a:sy n="107" d="100"/>
        </p:scale>
        <p:origin x="1096" y="472"/>
      </p:cViewPr>
      <p:guideLst/>
    </p:cSldViewPr>
  </p:slideViewPr>
  <p:notesTextViewPr>
    <p:cViewPr>
      <p:scale>
        <a:sx n="1" d="1"/>
        <a:sy n="1" d="1"/>
      </p:scale>
      <p:origin x="0" y="0"/>
    </p:cViewPr>
  </p:notesText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3"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Data Science Profile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Scale</c:v>
                </c:pt>
              </c:strCache>
            </c:strRef>
          </c:tx>
          <c:spPr>
            <a:solidFill>
              <a:schemeClr val="accent1"/>
            </a:solidFill>
            <a:ln>
              <a:noFill/>
            </a:ln>
            <a:effectLst/>
          </c:spPr>
          <c:invertIfNegative val="0"/>
          <c:cat>
            <c:strRef>
              <c:f>Sheet1!$A$2:$A$8</c:f>
              <c:strCache>
                <c:ptCount val="7"/>
                <c:pt idx="0">
                  <c:v>Computer Science</c:v>
                </c:pt>
                <c:pt idx="1">
                  <c:v>Math</c:v>
                </c:pt>
                <c:pt idx="2">
                  <c:v>Statistics</c:v>
                </c:pt>
                <c:pt idx="3">
                  <c:v>Machine Learning</c:v>
                </c:pt>
                <c:pt idx="4">
                  <c:v>Domain expertise</c:v>
                </c:pt>
                <c:pt idx="5">
                  <c:v>Communication and presentation skills</c:v>
                </c:pt>
                <c:pt idx="6">
                  <c:v>Data visualization</c:v>
                </c:pt>
              </c:strCache>
            </c:strRef>
          </c:cat>
          <c:val>
            <c:numRef>
              <c:f>Sheet1!$B$2:$B$8</c:f>
              <c:numCache>
                <c:formatCode>General</c:formatCode>
                <c:ptCount val="7"/>
                <c:pt idx="0">
                  <c:v>7</c:v>
                </c:pt>
                <c:pt idx="1">
                  <c:v>6</c:v>
                </c:pt>
                <c:pt idx="2">
                  <c:v>6</c:v>
                </c:pt>
                <c:pt idx="3">
                  <c:v>7</c:v>
                </c:pt>
                <c:pt idx="4">
                  <c:v>9</c:v>
                </c:pt>
                <c:pt idx="5">
                  <c:v>9</c:v>
                </c:pt>
                <c:pt idx="6">
                  <c:v>8</c:v>
                </c:pt>
              </c:numCache>
            </c:numRef>
          </c:val>
          <c:extLst>
            <c:ext xmlns:c16="http://schemas.microsoft.com/office/drawing/2014/chart" uri="{C3380CC4-5D6E-409C-BE32-E72D297353CC}">
              <c16:uniqueId val="{00000000-5DC0-5249-84AA-D117A9C0EC9C}"/>
            </c:ext>
          </c:extLst>
        </c:ser>
        <c:dLbls>
          <c:showLegendKey val="0"/>
          <c:showVal val="0"/>
          <c:showCatName val="0"/>
          <c:showSerName val="0"/>
          <c:showPercent val="0"/>
          <c:showBubbleSize val="0"/>
        </c:dLbls>
        <c:gapWidth val="219"/>
        <c:overlap val="-27"/>
        <c:axId val="266973872"/>
        <c:axId val="266975584"/>
      </c:barChart>
      <c:catAx>
        <c:axId val="266973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6975584"/>
        <c:crosses val="autoZero"/>
        <c:auto val="1"/>
        <c:lblAlgn val="ctr"/>
        <c:lblOffset val="100"/>
        <c:noMultiLvlLbl val="0"/>
      </c:catAx>
      <c:valAx>
        <c:axId val="266975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6973872"/>
        <c:crosses val="autoZero"/>
        <c:crossBetween val="between"/>
      </c:valAx>
      <c:spPr>
        <a:noFill/>
        <a:ln>
          <a:noFill/>
        </a:ln>
        <a:effectLst/>
      </c:spPr>
    </c:plotArea>
    <c:plotVisOnly val="1"/>
    <c:dispBlanksAs val="gap"/>
    <c:showDLblsOverMax val="0"/>
  </c:chart>
  <c:spPr>
    <a:noFill/>
    <a:ln w="25400" cmpd="dbl">
      <a:solidFill>
        <a:schemeClr val="tx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F5FDE1-6ABE-9446-B488-F18C9FCF7068}" type="datetimeFigureOut">
              <a:rPr lang="en-US" smtClean="0"/>
              <a:t>1/7/26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EFE47E-EC87-A544-990D-22E841C8763B}" type="slidenum">
              <a:rPr lang="en-US" smtClean="0"/>
              <a:t>‹#›</a:t>
            </a:fld>
            <a:endParaRPr lang="en-US"/>
          </a:p>
        </p:txBody>
      </p:sp>
    </p:spTree>
    <p:extLst>
      <p:ext uri="{BB962C8B-B14F-4D97-AF65-F5344CB8AC3E}">
        <p14:creationId xmlns:p14="http://schemas.microsoft.com/office/powerpoint/2010/main" val="1141704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478407"/>
          </a:xfrm>
        </p:spPr>
        <p:txBody>
          <a:bodyPr/>
          <a:lstStyle/>
          <a:p>
            <a:r>
              <a:rPr lang="en-US" sz="1100" dirty="0"/>
              <a:t>Using a relative scale for self-reporting, I evaluated my strengths in each of the 7 domains: Computer Science, Math, Statistics, Machine Learning, Domain Expertise, Communication and Presentation Skills and Data Visualization. I used a scale for visual purposes of 1-10. 1 = no skills, 5 = Average. May have some of the broad skills listed below but don’t feel confident executing individually, 10 = expert, don’t require much guidance and think of myself as someone who can execute without guidance.</a:t>
            </a:r>
          </a:p>
          <a:p>
            <a:r>
              <a:rPr lang="en-US" sz="1100" dirty="0"/>
              <a:t>Computer Science: Use R and SQL, knowledge of Python, data structure and algorithms, have used Git before for source code control and versioning and proficient in governance for best practices with software engineering. = 7</a:t>
            </a:r>
          </a:p>
          <a:p>
            <a:r>
              <a:rPr lang="en-US" sz="1100" dirty="0"/>
              <a:t>Math: Strong comfort level with math but will need to brush up based on length of time away from attaching mathematic formulas to day-to-day work = 6</a:t>
            </a:r>
          </a:p>
          <a:p>
            <a:r>
              <a:rPr lang="en-US" sz="1100" dirty="0"/>
              <a:t>Statistics: Strong comfort level with statistics and will need to continue to brush up on calculations and use of SAS = 6</a:t>
            </a:r>
          </a:p>
          <a:p>
            <a:r>
              <a:rPr lang="en-US" sz="1100" dirty="0"/>
              <a:t>Machine Learning: Very strong knowledge of supervised and unsupervised learning algorithms. Current work does not explicitly reference traditional classification metrics but focuses closest on accuracy and precision-recall. Answer-quality (% of answers that meet acceptance criteria) is closest to Accuracy and Precision-Recall. = 7</a:t>
            </a:r>
          </a:p>
          <a:p>
            <a:r>
              <a:rPr lang="en-US" sz="1100" dirty="0"/>
              <a:t>Domain: Very strong knowledge of industry challenges in the evaluation of data particularly in the Finance and Sustainable Agriculture domains. There is an incredible amount of data, an insatiable appetite for more data but industries continue to struggle with producing the right data to determine how to align with desired business outcomes. = 9</a:t>
            </a:r>
          </a:p>
          <a:p>
            <a:r>
              <a:rPr lang="en-US" sz="1100" dirty="0"/>
              <a:t>Communication and Presentation Skills: Expert at C level communications to use industry and leadership language. Rarely do I talk in terms of technology but focus more on the outcomes desired, how this can be done in a certain industry and why technology is an enabler for those outcomes. = 9</a:t>
            </a:r>
          </a:p>
          <a:p>
            <a:r>
              <a:rPr lang="en-US" sz="1100" dirty="0"/>
              <a:t>Data Visualization: Heavy use of Tableau and Tableau Next tools. = 8</a:t>
            </a:r>
          </a:p>
          <a:p>
            <a:endParaRPr lang="en-US" dirty="0"/>
          </a:p>
        </p:txBody>
      </p:sp>
      <p:sp>
        <p:nvSpPr>
          <p:cNvPr id="4" name="Slide Number Placeholder 3"/>
          <p:cNvSpPr>
            <a:spLocks noGrp="1"/>
          </p:cNvSpPr>
          <p:nvPr>
            <p:ph type="sldNum" sz="quarter" idx="5"/>
          </p:nvPr>
        </p:nvSpPr>
        <p:spPr/>
        <p:txBody>
          <a:bodyPr/>
          <a:lstStyle/>
          <a:p>
            <a:fld id="{DCEFE47E-EC87-A544-990D-22E841C8763B}" type="slidenum">
              <a:rPr lang="en-US" smtClean="0"/>
              <a:t>4</a:t>
            </a:fld>
            <a:endParaRPr lang="en-US"/>
          </a:p>
        </p:txBody>
      </p:sp>
    </p:spTree>
    <p:extLst>
      <p:ext uri="{BB962C8B-B14F-4D97-AF65-F5344CB8AC3E}">
        <p14:creationId xmlns:p14="http://schemas.microsoft.com/office/powerpoint/2010/main" val="1738768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Modified CLT2.RMD code to reflect the creation of a population of 10,000,000 with a </a:t>
            </a:r>
            <a:r>
              <a:rPr lang="en-US" dirty="0" err="1"/>
              <a:t>df</a:t>
            </a:r>
            <a:r>
              <a:rPr lang="en-US" dirty="0"/>
              <a:t> = 2. I modified the code to do this but wanted to understand why using this function was recommended. As part of the Central Learning Theorem (hence CLT),  CLT – repeatedly taking random samples from any population and computing the sample mean each time, then the distribution of those sample means will become approximately normal (bell-shaped) as the same size increases. I understand why the degrees of freedom impact the skewing but am still exploring why this function was used to obtain the sample-population data.  By choosing a population size of 10,000,000 </a:t>
            </a:r>
            <a:r>
              <a:rPr lang="en-US" dirty="0" err="1"/>
              <a:t>rchisq</a:t>
            </a:r>
            <a:r>
              <a:rPr lang="en-US" dirty="0"/>
              <a:t>() illustrates how the data skews normal. It’s really the degrees of freedom that define the fact that this data is normal. The population mean is ~ 1.999062 (2 rounded). The population standard deviation ~ 1.999729. </a:t>
            </a:r>
          </a:p>
          <a:p>
            <a:r>
              <a:rPr lang="en-US" dirty="0"/>
              <a:t>The CLT says that for a sample size of 50 from the population then there will be a normal distribution around 2. The standard error is the standard deviation / square root of the sample size.</a:t>
            </a:r>
          </a:p>
          <a:p>
            <a:r>
              <a:rPr lang="en-US" dirty="0"/>
              <a:t>Therefore, it is 2/ square root (50). This is equal to 0.282989. </a:t>
            </a:r>
          </a:p>
        </p:txBody>
      </p:sp>
      <p:sp>
        <p:nvSpPr>
          <p:cNvPr id="4" name="Slide Number Placeholder 3"/>
          <p:cNvSpPr>
            <a:spLocks noGrp="1"/>
          </p:cNvSpPr>
          <p:nvPr>
            <p:ph type="sldNum" sz="quarter" idx="5"/>
          </p:nvPr>
        </p:nvSpPr>
        <p:spPr/>
        <p:txBody>
          <a:bodyPr/>
          <a:lstStyle/>
          <a:p>
            <a:fld id="{DCEFE47E-EC87-A544-990D-22E841C8763B}" type="slidenum">
              <a:rPr lang="en-US" smtClean="0"/>
              <a:t>5</a:t>
            </a:fld>
            <a:endParaRPr lang="en-US"/>
          </a:p>
        </p:txBody>
      </p:sp>
    </p:spTree>
    <p:extLst>
      <p:ext uri="{BB962C8B-B14F-4D97-AF65-F5344CB8AC3E}">
        <p14:creationId xmlns:p14="http://schemas.microsoft.com/office/powerpoint/2010/main" val="3850321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D1C24-489F-C102-9668-507E1E24F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9301F-7900-F2F8-D05C-CF107B44B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CD3C5-3856-281C-6452-EF2E7B9DCE9A}"/>
              </a:ext>
            </a:extLst>
          </p:cNvPr>
          <p:cNvSpPr>
            <a:spLocks noGrp="1"/>
          </p:cNvSpPr>
          <p:nvPr>
            <p:ph type="body" idx="1"/>
          </p:nvPr>
        </p:nvSpPr>
        <p:spPr/>
        <p:txBody>
          <a:bodyPr/>
          <a:lstStyle/>
          <a:p>
            <a:r>
              <a:rPr lang="en-US" dirty="0"/>
              <a:t>Modified CLT2.RMD code to reflect the creation of a population of 10,000,000 with a </a:t>
            </a:r>
            <a:r>
              <a:rPr lang="en-US" dirty="0" err="1"/>
              <a:t>df</a:t>
            </a:r>
            <a:r>
              <a:rPr lang="en-US" dirty="0"/>
              <a:t> = 2. I modified the code to do this but wanted to understand why using this function was recommended. As part of the Central Learning Theorem (hence CLT),  CLT – repeatedly taking random samples from any population and computing the sample mean each time, then the distribution of those sample means will become approximately normal (bell-shaped) as the same size increases. I understand why the degrees of freedom impact the skewing but am still exploring why this function was used to obtain the sample-population data.  By choosing a population size of 10,000,000 </a:t>
            </a:r>
            <a:r>
              <a:rPr lang="en-US" dirty="0" err="1"/>
              <a:t>rchisq</a:t>
            </a:r>
            <a:r>
              <a:rPr lang="en-US" dirty="0"/>
              <a:t>() illustrates how the data skews normal. It’s really the degrees of freedom that define the fact that this data is normal. The population mean is ~ 1.999062 (2 rounded). The population standard deviation ~ 1.999729. </a:t>
            </a:r>
          </a:p>
          <a:p>
            <a:r>
              <a:rPr lang="en-US" dirty="0"/>
              <a:t>The CLT says that for a sample size of 50 from the population then there will be a normal distribution around 2. The standard error is the standard deviation / square root of the sample size.</a:t>
            </a:r>
          </a:p>
          <a:p>
            <a:r>
              <a:rPr lang="en-US" dirty="0"/>
              <a:t>Therefore, it is 2/ square root (50). This is equal to 0.282989. </a:t>
            </a:r>
          </a:p>
        </p:txBody>
      </p:sp>
      <p:sp>
        <p:nvSpPr>
          <p:cNvPr id="4" name="Slide Number Placeholder 3">
            <a:extLst>
              <a:ext uri="{FF2B5EF4-FFF2-40B4-BE49-F238E27FC236}">
                <a16:creationId xmlns:a16="http://schemas.microsoft.com/office/drawing/2014/main" id="{E897C506-F496-2C4D-0D75-7308083A1C12}"/>
              </a:ext>
            </a:extLst>
          </p:cNvPr>
          <p:cNvSpPr>
            <a:spLocks noGrp="1"/>
          </p:cNvSpPr>
          <p:nvPr>
            <p:ph type="sldNum" sz="quarter" idx="5"/>
          </p:nvPr>
        </p:nvSpPr>
        <p:spPr/>
        <p:txBody>
          <a:bodyPr/>
          <a:lstStyle/>
          <a:p>
            <a:fld id="{DCEFE47E-EC87-A544-990D-22E841C8763B}" type="slidenum">
              <a:rPr lang="en-US" smtClean="0"/>
              <a:t>6</a:t>
            </a:fld>
            <a:endParaRPr lang="en-US"/>
          </a:p>
        </p:txBody>
      </p:sp>
    </p:spTree>
    <p:extLst>
      <p:ext uri="{BB962C8B-B14F-4D97-AF65-F5344CB8AC3E}">
        <p14:creationId xmlns:p14="http://schemas.microsoft.com/office/powerpoint/2010/main" val="3295546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0224C-4024-AA03-F957-99D4F7C5C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54B6A-7C77-51C1-561F-A1508A1062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00BDB-7057-B648-1448-29E8AF19F7DF}"/>
              </a:ext>
            </a:extLst>
          </p:cNvPr>
          <p:cNvSpPr>
            <a:spLocks noGrp="1"/>
          </p:cNvSpPr>
          <p:nvPr>
            <p:ph type="body" idx="1"/>
          </p:nvPr>
        </p:nvSpPr>
        <p:spPr/>
        <p:txBody>
          <a:bodyPr/>
          <a:lstStyle/>
          <a:p>
            <a:r>
              <a:rPr lang="en-US" dirty="0"/>
              <a:t>Modified CLT2.RMD code to reflect the creation of a population of 10,000,000 with a </a:t>
            </a:r>
            <a:r>
              <a:rPr lang="en-US" dirty="0" err="1"/>
              <a:t>df</a:t>
            </a:r>
            <a:r>
              <a:rPr lang="en-US" dirty="0"/>
              <a:t> = 2. I modified the code to do this but wanted to understand why using this function was recommended. As part of the Central Learning Theorem (hence CLT),  CLT – repeatedly taking random samples from any population and computing the sample mean each time, then the distribution of those sample means will become approximately normal (bell-shaped) as the same size increases. I understand why the degrees of freedom impact the skewing but am still exploring why this function was used to obtain the sample-population data.  By choosing a population size of 10,000,000 </a:t>
            </a:r>
            <a:r>
              <a:rPr lang="en-US" dirty="0" err="1"/>
              <a:t>rchisq</a:t>
            </a:r>
            <a:r>
              <a:rPr lang="en-US" dirty="0"/>
              <a:t>() illustrates how the data skews normal. It’s really the degrees of freedom that define the fact that this data is normal. The population mean is ~ 1.999062 (2 rounded). The population standard deviation ~ 1.999729. </a:t>
            </a:r>
          </a:p>
          <a:p>
            <a:r>
              <a:rPr lang="en-US" dirty="0"/>
              <a:t>The CLT says that for a sample size of 50 from the population then there will be a normal distribution around 2. The standard error is the standard deviation / square root of the sample size.</a:t>
            </a:r>
          </a:p>
          <a:p>
            <a:r>
              <a:rPr lang="en-US" dirty="0"/>
              <a:t>Therefore, it is 2/ square root (50). This is equal to 0.282989. </a:t>
            </a:r>
          </a:p>
        </p:txBody>
      </p:sp>
      <p:sp>
        <p:nvSpPr>
          <p:cNvPr id="4" name="Slide Number Placeholder 3">
            <a:extLst>
              <a:ext uri="{FF2B5EF4-FFF2-40B4-BE49-F238E27FC236}">
                <a16:creationId xmlns:a16="http://schemas.microsoft.com/office/drawing/2014/main" id="{5660C817-270F-284D-7C7B-353AD85BCA6A}"/>
              </a:ext>
            </a:extLst>
          </p:cNvPr>
          <p:cNvSpPr>
            <a:spLocks noGrp="1"/>
          </p:cNvSpPr>
          <p:nvPr>
            <p:ph type="sldNum" sz="quarter" idx="5"/>
          </p:nvPr>
        </p:nvSpPr>
        <p:spPr/>
        <p:txBody>
          <a:bodyPr/>
          <a:lstStyle/>
          <a:p>
            <a:fld id="{DCEFE47E-EC87-A544-990D-22E841C8763B}" type="slidenum">
              <a:rPr lang="en-US" smtClean="0"/>
              <a:t>7</a:t>
            </a:fld>
            <a:endParaRPr lang="en-US"/>
          </a:p>
        </p:txBody>
      </p:sp>
    </p:spTree>
    <p:extLst>
      <p:ext uri="{BB962C8B-B14F-4D97-AF65-F5344CB8AC3E}">
        <p14:creationId xmlns:p14="http://schemas.microsoft.com/office/powerpoint/2010/main" val="3728046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5AAA1-78F8-1790-1AD7-CA1E43FB9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D7ED5-FE22-0E05-EFCE-6E3387E7D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8002C-1374-D1CA-1684-0D7C6E800B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7EC663-6EA0-E4F1-A020-8E1EB37AF71F}"/>
              </a:ext>
            </a:extLst>
          </p:cNvPr>
          <p:cNvSpPr>
            <a:spLocks noGrp="1"/>
          </p:cNvSpPr>
          <p:nvPr>
            <p:ph type="sldNum" sz="quarter" idx="5"/>
          </p:nvPr>
        </p:nvSpPr>
        <p:spPr/>
        <p:txBody>
          <a:bodyPr/>
          <a:lstStyle/>
          <a:p>
            <a:fld id="{DCEFE47E-EC87-A544-990D-22E841C8763B}" type="slidenum">
              <a:rPr lang="en-US" smtClean="0"/>
              <a:t>8</a:t>
            </a:fld>
            <a:endParaRPr lang="en-US"/>
          </a:p>
        </p:txBody>
      </p:sp>
    </p:spTree>
    <p:extLst>
      <p:ext uri="{BB962C8B-B14F-4D97-AF65-F5344CB8AC3E}">
        <p14:creationId xmlns:p14="http://schemas.microsoft.com/office/powerpoint/2010/main" val="474459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0A3E1-8A24-6C5D-3D48-9952653C3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639E3-8D42-BFED-FAF6-C7FF424EC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ABD3E-5E80-66CA-F598-4D47B65911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7AB1EA-C7F1-AF88-0D29-A274AB174553}"/>
              </a:ext>
            </a:extLst>
          </p:cNvPr>
          <p:cNvSpPr>
            <a:spLocks noGrp="1"/>
          </p:cNvSpPr>
          <p:nvPr>
            <p:ph type="sldNum" sz="quarter" idx="5"/>
          </p:nvPr>
        </p:nvSpPr>
        <p:spPr/>
        <p:txBody>
          <a:bodyPr/>
          <a:lstStyle/>
          <a:p>
            <a:fld id="{DCEFE47E-EC87-A544-990D-22E841C8763B}" type="slidenum">
              <a:rPr lang="en-US" smtClean="0"/>
              <a:t>9</a:t>
            </a:fld>
            <a:endParaRPr lang="en-US"/>
          </a:p>
        </p:txBody>
      </p:sp>
    </p:spTree>
    <p:extLst>
      <p:ext uri="{BB962C8B-B14F-4D97-AF65-F5344CB8AC3E}">
        <p14:creationId xmlns:p14="http://schemas.microsoft.com/office/powerpoint/2010/main" val="2641505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7841D-6B46-31E6-FFA0-2B6210491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A73E45-CD1A-F060-BDA0-A2F6E03FF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EF3CD9-E3B9-6371-0EF7-700384A5B7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59B75F-B5C8-CBD9-6ED8-11CF03897289}"/>
              </a:ext>
            </a:extLst>
          </p:cNvPr>
          <p:cNvSpPr>
            <a:spLocks noGrp="1"/>
          </p:cNvSpPr>
          <p:nvPr>
            <p:ph type="sldNum" sz="quarter" idx="5"/>
          </p:nvPr>
        </p:nvSpPr>
        <p:spPr/>
        <p:txBody>
          <a:bodyPr/>
          <a:lstStyle/>
          <a:p>
            <a:fld id="{DCEFE47E-EC87-A544-990D-22E841C8763B}" type="slidenum">
              <a:rPr lang="en-US" smtClean="0"/>
              <a:t>10</a:t>
            </a:fld>
            <a:endParaRPr lang="en-US"/>
          </a:p>
        </p:txBody>
      </p:sp>
    </p:spTree>
    <p:extLst>
      <p:ext uri="{BB962C8B-B14F-4D97-AF65-F5344CB8AC3E}">
        <p14:creationId xmlns:p14="http://schemas.microsoft.com/office/powerpoint/2010/main" val="181252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032A2-37F8-81B4-BC88-5BCA1DE9D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4E4F4-1B1A-B274-77E1-B2E5F4810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B0FF7-FBE8-D289-10BC-4B0C65ED92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8C2B90-021D-0AC3-643D-BAC26DDB8DFE}"/>
              </a:ext>
            </a:extLst>
          </p:cNvPr>
          <p:cNvSpPr>
            <a:spLocks noGrp="1"/>
          </p:cNvSpPr>
          <p:nvPr>
            <p:ph type="sldNum" sz="quarter" idx="5"/>
          </p:nvPr>
        </p:nvSpPr>
        <p:spPr/>
        <p:txBody>
          <a:bodyPr/>
          <a:lstStyle/>
          <a:p>
            <a:fld id="{DCEFE47E-EC87-A544-990D-22E841C8763B}" type="slidenum">
              <a:rPr lang="en-US" smtClean="0"/>
              <a:t>11</a:t>
            </a:fld>
            <a:endParaRPr lang="en-US"/>
          </a:p>
        </p:txBody>
      </p:sp>
    </p:spTree>
    <p:extLst>
      <p:ext uri="{BB962C8B-B14F-4D97-AF65-F5344CB8AC3E}">
        <p14:creationId xmlns:p14="http://schemas.microsoft.com/office/powerpoint/2010/main" val="3454125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223589-D1FE-5045-809F-56B69D3AD8BF}" type="datetimeFigureOut">
              <a:rPr lang="en-US" smtClean="0"/>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4044577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223589-D1FE-5045-809F-56B69D3AD8BF}" type="datetimeFigureOut">
              <a:rPr lang="en-US" smtClean="0"/>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2693740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E223589-D1FE-5045-809F-56B69D3AD8BF}" type="datetimeFigureOut">
              <a:rPr lang="en-US" smtClean="0"/>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2640838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223589-D1FE-5045-809F-56B69D3AD8BF}" type="datetimeFigureOut">
              <a:rPr lang="en-US" smtClean="0"/>
              <a:t>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1813203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223589-D1FE-5045-809F-56B69D3AD8BF}" type="datetimeFigureOut">
              <a:rPr lang="en-US" smtClean="0"/>
              <a:t>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3771931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223589-D1FE-5045-809F-56B69D3AD8BF}" type="datetimeFigureOut">
              <a:rPr lang="en-US" smtClean="0"/>
              <a:t>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2645682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223589-D1FE-5045-809F-56B69D3AD8BF}" type="datetimeFigureOut">
              <a:rPr lang="en-US" smtClean="0"/>
              <a:t>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3338881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E223589-D1FE-5045-809F-56B69D3AD8BF}" type="datetimeFigureOut">
              <a:rPr lang="en-US" smtClean="0"/>
              <a:t>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2451613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E223589-D1FE-5045-809F-56B69D3AD8BF}" type="datetimeFigureOut">
              <a:rPr lang="en-US" smtClean="0"/>
              <a:t>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621253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223589-D1FE-5045-809F-56B69D3AD8BF}" type="datetimeFigureOut">
              <a:rPr lang="en-US" smtClean="0"/>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4205208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223589-D1FE-5045-809F-56B69D3AD8BF}" type="datetimeFigureOut">
              <a:rPr lang="en-US" smtClean="0"/>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1763439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223589-D1FE-5045-809F-56B69D3AD8BF}" type="datetimeFigureOut">
              <a:rPr lang="en-US" smtClean="0"/>
              <a:t>1/7/26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26F504-64E0-8F44-9A26-DEA4139BCF66}" type="slidenum">
              <a:rPr lang="en-US" smtClean="0"/>
              <a:t>‹#›</a:t>
            </a:fld>
            <a:endParaRPr lang="en-US"/>
          </a:p>
        </p:txBody>
      </p:sp>
    </p:spTree>
    <p:extLst>
      <p:ext uri="{BB962C8B-B14F-4D97-AF65-F5344CB8AC3E}">
        <p14:creationId xmlns:p14="http://schemas.microsoft.com/office/powerpoint/2010/main" val="6133996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FCF84-4DB9-BF46-8D93-015ADC5EF5A9}"/>
              </a:ext>
            </a:extLst>
          </p:cNvPr>
          <p:cNvSpPr>
            <a:spLocks noGrp="1"/>
          </p:cNvSpPr>
          <p:nvPr>
            <p:ph type="ctrTitle"/>
          </p:nvPr>
        </p:nvSpPr>
        <p:spPr/>
        <p:txBody>
          <a:bodyPr/>
          <a:lstStyle/>
          <a:p>
            <a:r>
              <a:rPr lang="en-US" dirty="0"/>
              <a:t>DDS For Live Session </a:t>
            </a:r>
          </a:p>
        </p:txBody>
      </p:sp>
      <p:sp>
        <p:nvSpPr>
          <p:cNvPr id="3" name="Subtitle 2">
            <a:extLst>
              <a:ext uri="{FF2B5EF4-FFF2-40B4-BE49-F238E27FC236}">
                <a16:creationId xmlns:a16="http://schemas.microsoft.com/office/drawing/2014/main" id="{BDC225C5-471E-4B41-B53A-D95A4DD10F65}"/>
              </a:ext>
            </a:extLst>
          </p:cNvPr>
          <p:cNvSpPr>
            <a:spLocks noGrp="1"/>
          </p:cNvSpPr>
          <p:nvPr>
            <p:ph type="subTitle" idx="1"/>
          </p:nvPr>
        </p:nvSpPr>
        <p:spPr/>
        <p:txBody>
          <a:bodyPr>
            <a:normAutofit fontScale="70000" lnSpcReduction="20000"/>
          </a:bodyPr>
          <a:lstStyle/>
          <a:p>
            <a:r>
              <a:rPr lang="en-US" dirty="0"/>
              <a:t>UNIT 1</a:t>
            </a:r>
          </a:p>
          <a:p>
            <a:r>
              <a:rPr lang="en-US" dirty="0"/>
              <a:t>Diane Roberts</a:t>
            </a:r>
          </a:p>
          <a:p>
            <a:r>
              <a:rPr lang="en-US" dirty="0"/>
              <a:t>1-8-2026</a:t>
            </a:r>
          </a:p>
          <a:p>
            <a:r>
              <a:rPr lang="en-US"/>
              <a:t>(Late </a:t>
            </a:r>
            <a:r>
              <a:rPr lang="en-US" dirty="0"/>
              <a:t>due to not being admitted to the course until 1/6/26. I was also not able to attend the first class so I will now watch it asynchronously.)</a:t>
            </a:r>
          </a:p>
        </p:txBody>
      </p:sp>
    </p:spTree>
    <p:extLst>
      <p:ext uri="{BB962C8B-B14F-4D97-AF65-F5344CB8AC3E}">
        <p14:creationId xmlns:p14="http://schemas.microsoft.com/office/powerpoint/2010/main" val="2965570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CDBF-CA05-B94C-A90A-7CD156AA9F7C}"/>
              </a:ext>
            </a:extLst>
          </p:cNvPr>
          <p:cNvSpPr>
            <a:spLocks noGrp="1"/>
          </p:cNvSpPr>
          <p:nvPr>
            <p:ph type="title"/>
          </p:nvPr>
        </p:nvSpPr>
        <p:spPr/>
        <p:txBody>
          <a:bodyPr>
            <a:normAutofit/>
          </a:bodyPr>
          <a:lstStyle/>
          <a:p>
            <a:r>
              <a:rPr lang="en-US" dirty="0"/>
              <a:t>Philosophy</a:t>
            </a:r>
            <a:br>
              <a:rPr lang="en-US" dirty="0"/>
            </a:br>
            <a:r>
              <a:rPr lang="en-US" sz="2800" i="1" dirty="0"/>
              <a:t>Due at 1pm CST the day of live session.</a:t>
            </a:r>
            <a:endParaRPr lang="en-US" i="1" dirty="0"/>
          </a:p>
        </p:txBody>
      </p:sp>
      <p:sp>
        <p:nvSpPr>
          <p:cNvPr id="3" name="Content Placeholder 2">
            <a:extLst>
              <a:ext uri="{FF2B5EF4-FFF2-40B4-BE49-F238E27FC236}">
                <a16:creationId xmlns:a16="http://schemas.microsoft.com/office/drawing/2014/main" id="{8BAF0FC9-3134-0F4C-B707-A2C723352008}"/>
              </a:ext>
            </a:extLst>
          </p:cNvPr>
          <p:cNvSpPr>
            <a:spLocks noGrp="1"/>
          </p:cNvSpPr>
          <p:nvPr>
            <p:ph idx="1"/>
          </p:nvPr>
        </p:nvSpPr>
        <p:spPr>
          <a:xfrm>
            <a:off x="200025" y="1556426"/>
            <a:ext cx="8658225" cy="5194570"/>
          </a:xfrm>
        </p:spPr>
        <p:txBody>
          <a:bodyPr>
            <a:normAutofit fontScale="77500" lnSpcReduction="20000"/>
          </a:bodyPr>
          <a:lstStyle/>
          <a:p>
            <a:r>
              <a:rPr lang="en-US" dirty="0"/>
              <a:t>On the next slide you will see activities and the estimated / expected time that the student should spend on that activity. </a:t>
            </a:r>
          </a:p>
          <a:p>
            <a:r>
              <a:rPr lang="en-US" dirty="0"/>
              <a:t>It is important to note that the goal of the activities is to become familiar with the methods, ideas and implementation involved in that activity so that we can efficiently iron out all the details in live session.  </a:t>
            </a:r>
          </a:p>
          <a:p>
            <a:r>
              <a:rPr lang="en-US" dirty="0"/>
              <a:t>Analogy: You are building the pieces of puzzle in the For Live Session Activity and we are putting them together to see the big picture in live session. </a:t>
            </a:r>
          </a:p>
          <a:p>
            <a:r>
              <a:rPr lang="en-US" dirty="0"/>
              <a:t>It is </a:t>
            </a:r>
            <a:r>
              <a:rPr lang="en-US" b="1" i="1" u="sng" dirty="0"/>
              <a:t>not</a:t>
            </a:r>
            <a:r>
              <a:rPr lang="en-US" dirty="0"/>
              <a:t> expected that the student have all the correct answers.  The expectation is that each student spend the allotted time (indicated next to the activity) on each activity so that we can discuss the details in live session.  </a:t>
            </a:r>
          </a:p>
          <a:p>
            <a:r>
              <a:rPr lang="en-US" dirty="0"/>
              <a:t>If you max out the indicated time without finishing the activity and you don’t have more time to finish, simply write up what you have learned by that time and record any questions you might have and we will address those in live session!  </a:t>
            </a:r>
          </a:p>
          <a:p>
            <a:r>
              <a:rPr lang="en-US" dirty="0"/>
              <a:t>We want to develop the questions before live session so that we can use the live session time to effectively answer them!  </a:t>
            </a:r>
          </a:p>
          <a:p>
            <a:pPr marL="971550" lvl="1" indent="-514350">
              <a:buAutoNum type="arabicPeriod"/>
            </a:pPr>
            <a:endParaRPr lang="en-US" dirty="0"/>
          </a:p>
        </p:txBody>
      </p:sp>
    </p:spTree>
    <p:extLst>
      <p:ext uri="{BB962C8B-B14F-4D97-AF65-F5344CB8AC3E}">
        <p14:creationId xmlns:p14="http://schemas.microsoft.com/office/powerpoint/2010/main" val="2909357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CDBF-CA05-B94C-A90A-7CD156AA9F7C}"/>
              </a:ext>
            </a:extLst>
          </p:cNvPr>
          <p:cNvSpPr>
            <a:spLocks noGrp="1"/>
          </p:cNvSpPr>
          <p:nvPr>
            <p:ph type="title"/>
          </p:nvPr>
        </p:nvSpPr>
        <p:spPr/>
        <p:txBody>
          <a:bodyPr/>
          <a:lstStyle/>
          <a:p>
            <a:r>
              <a:rPr lang="en-US" dirty="0"/>
              <a:t>For Live Session: Unit 1</a:t>
            </a:r>
            <a:br>
              <a:rPr lang="en-US" dirty="0"/>
            </a:br>
            <a:r>
              <a:rPr lang="en-US" sz="2800" i="1" dirty="0"/>
              <a:t>Due at 1pm CST the day of live session.</a:t>
            </a:r>
            <a:endParaRPr lang="en-US" dirty="0"/>
          </a:p>
        </p:txBody>
      </p:sp>
      <p:sp>
        <p:nvSpPr>
          <p:cNvPr id="3" name="Content Placeholder 2">
            <a:extLst>
              <a:ext uri="{FF2B5EF4-FFF2-40B4-BE49-F238E27FC236}">
                <a16:creationId xmlns:a16="http://schemas.microsoft.com/office/drawing/2014/main" id="{8BAF0FC9-3134-0F4C-B707-A2C723352008}"/>
              </a:ext>
            </a:extLst>
          </p:cNvPr>
          <p:cNvSpPr>
            <a:spLocks noGrp="1"/>
          </p:cNvSpPr>
          <p:nvPr>
            <p:ph idx="1"/>
          </p:nvPr>
        </p:nvSpPr>
        <p:spPr>
          <a:xfrm>
            <a:off x="200025" y="1556426"/>
            <a:ext cx="8658225" cy="5194570"/>
          </a:xfrm>
        </p:spPr>
        <p:txBody>
          <a:bodyPr>
            <a:normAutofit fontScale="55000" lnSpcReduction="20000"/>
          </a:bodyPr>
          <a:lstStyle/>
          <a:p>
            <a:pPr marL="0" indent="0">
              <a:buNone/>
            </a:pPr>
            <a:r>
              <a:rPr lang="en-US" b="1" dirty="0"/>
              <a:t>For each number, provide at least 1 PowerPoint slide to provide a clear presentation of your response.  You will present most of these slides in a break out and are given a score based on their completeness and clarity.  Most importantly, they will maximize your live session experience!</a:t>
            </a:r>
          </a:p>
          <a:p>
            <a:pPr marL="514350" indent="-514350">
              <a:buAutoNum type="arabicPeriod"/>
            </a:pPr>
            <a:r>
              <a:rPr lang="en-US" b="1" dirty="0"/>
              <a:t>Data Science Profile</a:t>
            </a:r>
            <a:r>
              <a:rPr lang="en-US" dirty="0"/>
              <a:t>: Make a bar plot for your data science profile.  (1-2 hours) The Data Science Profile is described in the Cathy O’Neil reading for Unit 1 from </a:t>
            </a:r>
            <a:r>
              <a:rPr lang="en-US" i="1" dirty="0"/>
              <a:t>Doing Data Science</a:t>
            </a:r>
            <a:r>
              <a:rPr lang="en-US" dirty="0"/>
              <a:t>. </a:t>
            </a:r>
          </a:p>
          <a:p>
            <a:pPr marL="514350" indent="-514350">
              <a:buAutoNum type="arabicPeriod"/>
            </a:pPr>
            <a:r>
              <a:rPr lang="en-US" b="1" dirty="0"/>
              <a:t>CLT:</a:t>
            </a:r>
            <a:r>
              <a:rPr lang="en-US" dirty="0"/>
              <a:t> Using the central limit code from the </a:t>
            </a:r>
            <a:r>
              <a:rPr lang="en-US" dirty="0" err="1"/>
              <a:t>asynch</a:t>
            </a:r>
            <a:r>
              <a:rPr lang="en-US" dirty="0"/>
              <a:t> material (CLT2.Rmd), adapt the code and provide the following analysis:  (2-3 hours)</a:t>
            </a:r>
          </a:p>
          <a:p>
            <a:pPr marL="971550" lvl="1" indent="-514350">
              <a:buAutoNum type="arabicPeriod"/>
            </a:pPr>
            <a:r>
              <a:rPr lang="en-US" dirty="0"/>
              <a:t>Adapt the code to generate a population of 10,000,000 from a chi-square distribution with 2 degrees of freedom.  This is a heavily right skewed distribution.  (Hint: </a:t>
            </a:r>
            <a:r>
              <a:rPr lang="en-US" dirty="0" err="1"/>
              <a:t>rchisq</a:t>
            </a:r>
            <a:r>
              <a:rPr lang="en-US" dirty="0"/>
              <a:t>()).  You will have to read up on this function and probably do some trial and error.  Being able to learn new functions and methods is a key skill.  </a:t>
            </a:r>
          </a:p>
          <a:p>
            <a:pPr marL="971550" lvl="1" indent="-514350">
              <a:buAutoNum type="arabicPeriod"/>
            </a:pPr>
            <a:r>
              <a:rPr lang="en-US" dirty="0"/>
              <a:t>Provide a histogram of this population… display the right skewness.</a:t>
            </a:r>
          </a:p>
          <a:p>
            <a:pPr marL="971550" lvl="1" indent="-514350">
              <a:buAutoNum type="arabicPeriod"/>
            </a:pPr>
            <a:r>
              <a:rPr lang="en-US" dirty="0"/>
              <a:t>Record the mean and standard deviation of this population.  </a:t>
            </a:r>
          </a:p>
          <a:p>
            <a:pPr marL="971550" lvl="1" indent="-514350">
              <a:buAutoNum type="arabicPeriod"/>
            </a:pPr>
            <a:r>
              <a:rPr lang="en-US" dirty="0"/>
              <a:t>According to the central limit theorem, what should be the approximate distribution of sample means of size 50 from this right skewed population?  What should be the mean and standard error of the mean (standard deviation of the distribution of sample means)?  </a:t>
            </a:r>
          </a:p>
          <a:p>
            <a:pPr marL="971550" lvl="1" indent="-514350">
              <a:buAutoNum type="arabicPeriod"/>
            </a:pPr>
            <a:r>
              <a:rPr lang="en-US" dirty="0"/>
              <a:t>Now let’s check this: Adapt the CLT code to draw 10,000 means each of size 50 from this population and provide the sampling distribution of this sample mean.  Provide a histogram of these 10,000 sample means.</a:t>
            </a:r>
          </a:p>
          <a:p>
            <a:pPr marL="971550" lvl="1" indent="-514350">
              <a:buAutoNum type="arabicPeriod"/>
            </a:pPr>
            <a:r>
              <a:rPr lang="en-US" dirty="0"/>
              <a:t>What is the mean and standard deviation of these 10,000 sample means?  </a:t>
            </a:r>
          </a:p>
          <a:p>
            <a:pPr marL="514350" indent="-514350">
              <a:buAutoNum type="arabicPeriod"/>
            </a:pPr>
            <a:r>
              <a:rPr lang="en-US" b="1" dirty="0"/>
              <a:t>Ask ChatGPT (you pick the version) to try and address the previous question.</a:t>
            </a:r>
          </a:p>
          <a:p>
            <a:pPr marL="514350" indent="-514350">
              <a:buAutoNum type="arabicPeriod"/>
            </a:pPr>
            <a:r>
              <a:rPr lang="en-US" b="1" dirty="0"/>
              <a:t>T-Test </a:t>
            </a:r>
            <a:r>
              <a:rPr lang="en-US" dirty="0"/>
              <a:t>(2-3 hours)</a:t>
            </a:r>
          </a:p>
          <a:p>
            <a:pPr marL="457200" lvl="1" indent="0">
              <a:buNone/>
            </a:pPr>
            <a:r>
              <a:rPr lang="en-US" dirty="0"/>
              <a:t>Research in R how to conduct a T-test (</a:t>
            </a:r>
            <a:r>
              <a:rPr lang="en-US" dirty="0" err="1"/>
              <a:t>t.test</a:t>
            </a:r>
            <a:r>
              <a:rPr lang="en-US" dirty="0"/>
              <a:t>) and conduct a six step hypothesis test to answer the question on the next slide.  If you would like to brush up on hypothesis tests, please see the </a:t>
            </a:r>
            <a:r>
              <a:rPr lang="en-US" i="1" dirty="0"/>
              <a:t>Bridge Course for Statistics</a:t>
            </a:r>
            <a:r>
              <a:rPr lang="en-US" dirty="0"/>
              <a:t>. </a:t>
            </a:r>
          </a:p>
          <a:p>
            <a:pPr marL="514350" indent="-514350">
              <a:buAutoNum type="arabicPeriod"/>
            </a:pPr>
            <a:r>
              <a:rPr lang="en-US" b="1" dirty="0"/>
              <a:t>Takeaways and/or Questions: </a:t>
            </a:r>
            <a:r>
              <a:rPr lang="en-US" dirty="0"/>
              <a:t>What were your key – takeaways from from this unit and what were any question or comments you would like to make?  Your professor will use these to customize live session.  </a:t>
            </a:r>
          </a:p>
          <a:p>
            <a:pPr marL="457200" lvl="1" indent="0">
              <a:buNone/>
            </a:pPr>
            <a:r>
              <a:rPr lang="en-US" dirty="0"/>
              <a:t>(1 hour)</a:t>
            </a:r>
          </a:p>
          <a:p>
            <a:pPr marL="971550" lvl="1" indent="-514350">
              <a:buAutoNum type="arabicPeriod"/>
            </a:pPr>
            <a:endParaRPr lang="en-US" dirty="0"/>
          </a:p>
        </p:txBody>
      </p:sp>
    </p:spTree>
    <p:extLst>
      <p:ext uri="{BB962C8B-B14F-4D97-AF65-F5344CB8AC3E}">
        <p14:creationId xmlns:p14="http://schemas.microsoft.com/office/powerpoint/2010/main" val="1138999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47139-5CF1-E350-57CB-76F2681FC0C8}"/>
              </a:ext>
            </a:extLst>
          </p:cNvPr>
          <p:cNvSpPr>
            <a:spLocks noGrp="1"/>
          </p:cNvSpPr>
          <p:nvPr>
            <p:ph type="title"/>
          </p:nvPr>
        </p:nvSpPr>
        <p:spPr>
          <a:xfrm>
            <a:off x="319892" y="8867"/>
            <a:ext cx="7886700" cy="1325563"/>
          </a:xfrm>
        </p:spPr>
        <p:txBody>
          <a:bodyPr anchor="ctr">
            <a:normAutofit/>
          </a:bodyPr>
          <a:lstStyle/>
          <a:p>
            <a:r>
              <a:rPr lang="en-US" dirty="0"/>
              <a:t>1. Data Science Profile</a:t>
            </a:r>
          </a:p>
        </p:txBody>
      </p:sp>
      <p:graphicFrame>
        <p:nvGraphicFramePr>
          <p:cNvPr id="10" name="Chart 9">
            <a:extLst>
              <a:ext uri="{FF2B5EF4-FFF2-40B4-BE49-F238E27FC236}">
                <a16:creationId xmlns:a16="http://schemas.microsoft.com/office/drawing/2014/main" id="{83FEEB77-FC12-A948-46EB-F0820A6F2A7D}"/>
              </a:ext>
            </a:extLst>
          </p:cNvPr>
          <p:cNvGraphicFramePr>
            <a:graphicFrameLocks/>
          </p:cNvGraphicFramePr>
          <p:nvPr>
            <p:extLst>
              <p:ext uri="{D42A27DB-BD31-4B8C-83A1-F6EECF244321}">
                <p14:modId xmlns:p14="http://schemas.microsoft.com/office/powerpoint/2010/main" val="2665559128"/>
              </p:ext>
            </p:extLst>
          </p:nvPr>
        </p:nvGraphicFramePr>
        <p:xfrm>
          <a:off x="367991" y="1146362"/>
          <a:ext cx="3886200" cy="4585871"/>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
            <a:extLst>
              <a:ext uri="{FF2B5EF4-FFF2-40B4-BE49-F238E27FC236}">
                <a16:creationId xmlns:a16="http://schemas.microsoft.com/office/drawing/2014/main" id="{FC105CDB-158C-A6A7-2947-E9E2102303FC}"/>
              </a:ext>
            </a:extLst>
          </p:cNvPr>
          <p:cNvSpPr>
            <a:spLocks noGrp="1" noChangeArrowheads="1"/>
          </p:cNvSpPr>
          <p:nvPr>
            <p:ph sz="half" idx="2"/>
          </p:nvPr>
        </p:nvSpPr>
        <p:spPr bwMode="auto">
          <a:xfrm>
            <a:off x="4629150" y="1114603"/>
            <a:ext cx="4414489" cy="4585871"/>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Self-Assessment Methodology: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Evaluation Type:</a:t>
            </a:r>
            <a:r>
              <a:rPr kumimoji="0" lang="en-US" altLang="en-US" sz="1400" b="0" i="0" u="none" strike="noStrike" cap="none" normalizeH="0" baseline="0" dirty="0">
                <a:ln>
                  <a:noFill/>
                </a:ln>
                <a:solidFill>
                  <a:schemeClr val="tx1"/>
                </a:solidFill>
                <a:effectLst/>
                <a:latin typeface="Arial" panose="020B0604020202020204" pitchFamily="34" charset="0"/>
              </a:rPr>
              <a:t> Relative scale for self-reporting strengths.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Scale Range:</a:t>
            </a:r>
            <a:r>
              <a:rPr kumimoji="0" lang="en-US" altLang="en-US" sz="1400" b="0" i="0" u="none" strike="noStrike" cap="none" normalizeH="0" baseline="0" dirty="0">
                <a:ln>
                  <a:noFill/>
                </a:ln>
                <a:solidFill>
                  <a:schemeClr val="tx1"/>
                </a:solidFill>
                <a:effectLst/>
                <a:latin typeface="Arial" panose="020B0604020202020204" pitchFamily="34" charset="0"/>
              </a:rPr>
              <a:t> 1 (No Skills) to 10 (Expert/Independent Execution).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Mid-Point (5):</a:t>
            </a:r>
            <a:r>
              <a:rPr kumimoji="0" lang="en-US" altLang="en-US" sz="1400" b="0" i="0" u="none" strike="noStrike" cap="none" normalizeH="0" baseline="0" dirty="0">
                <a:ln>
                  <a:noFill/>
                </a:ln>
                <a:solidFill>
                  <a:schemeClr val="tx1"/>
                </a:solidFill>
                <a:effectLst/>
                <a:latin typeface="Arial" panose="020B0604020202020204" pitchFamily="34" charset="0"/>
              </a:rPr>
              <a:t> Average proficiency; possesses broad skills but may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require guidance for individual execution.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Scope:</a:t>
            </a:r>
            <a:r>
              <a:rPr kumimoji="0" lang="en-US" altLang="en-US" sz="1400" b="0" i="0" u="none" strike="noStrike" cap="none" normalizeH="0" baseline="0" dirty="0">
                <a:ln>
                  <a:noFill/>
                </a:ln>
                <a:solidFill>
                  <a:schemeClr val="tx1"/>
                </a:solidFill>
                <a:effectLst/>
                <a:latin typeface="Arial" panose="020B0604020202020204" pitchFamily="34" charset="0"/>
              </a:rPr>
              <a:t> Covers Computer Science, Math, Statistics, Machine Learning,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Domain Expertise, Communication, 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Data Visualization.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Each category assumes 2-3 parameters for validation (e.g. Computer Science: can code in R, Python, SQL…)</a:t>
            </a:r>
          </a:p>
        </p:txBody>
      </p:sp>
      <p:sp>
        <p:nvSpPr>
          <p:cNvPr id="3" name="TextBox 2">
            <a:extLst>
              <a:ext uri="{FF2B5EF4-FFF2-40B4-BE49-F238E27FC236}">
                <a16:creationId xmlns:a16="http://schemas.microsoft.com/office/drawing/2014/main" id="{C4C9E4E5-055D-A6CB-E01F-A4D1A04FC544}"/>
              </a:ext>
            </a:extLst>
          </p:cNvPr>
          <p:cNvSpPr txBox="1"/>
          <p:nvPr/>
        </p:nvSpPr>
        <p:spPr>
          <a:xfrm>
            <a:off x="367991" y="5997039"/>
            <a:ext cx="8675648" cy="646331"/>
          </a:xfrm>
          <a:prstGeom prst="rect">
            <a:avLst/>
          </a:prstGeom>
          <a:noFill/>
          <a:ln>
            <a:solidFill>
              <a:schemeClr val="tx1"/>
            </a:solidFill>
          </a:ln>
        </p:spPr>
        <p:txBody>
          <a:bodyPr wrap="square" rtlCol="0">
            <a:spAutoFit/>
          </a:bodyPr>
          <a:lstStyle/>
          <a:p>
            <a:r>
              <a:rPr lang="en-US" dirty="0"/>
              <a:t>My self-assessed data science profile (certainly subjective) shows that I feel that my math and stats skills need continual refinement.</a:t>
            </a:r>
          </a:p>
        </p:txBody>
      </p:sp>
    </p:spTree>
    <p:extLst>
      <p:ext uri="{BB962C8B-B14F-4D97-AF65-F5344CB8AC3E}">
        <p14:creationId xmlns:p14="http://schemas.microsoft.com/office/powerpoint/2010/main" val="2005628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55E8F-BA00-7B7E-9641-88E06BECCE7C}"/>
              </a:ext>
            </a:extLst>
          </p:cNvPr>
          <p:cNvSpPr>
            <a:spLocks noGrp="1"/>
          </p:cNvSpPr>
          <p:nvPr>
            <p:ph type="title"/>
          </p:nvPr>
        </p:nvSpPr>
        <p:spPr>
          <a:xfrm>
            <a:off x="628650" y="20744"/>
            <a:ext cx="7886700" cy="1325563"/>
          </a:xfrm>
        </p:spPr>
        <p:txBody>
          <a:bodyPr/>
          <a:lstStyle/>
          <a:p>
            <a:r>
              <a:rPr lang="en-US" dirty="0"/>
              <a:t>2. CLT code modification</a:t>
            </a:r>
          </a:p>
        </p:txBody>
      </p:sp>
      <p:sp>
        <p:nvSpPr>
          <p:cNvPr id="3" name="Content Placeholder 2">
            <a:extLst>
              <a:ext uri="{FF2B5EF4-FFF2-40B4-BE49-F238E27FC236}">
                <a16:creationId xmlns:a16="http://schemas.microsoft.com/office/drawing/2014/main" id="{1E9D9170-1D5D-40BA-BC4E-54B47F5A8D23}"/>
              </a:ext>
            </a:extLst>
          </p:cNvPr>
          <p:cNvSpPr>
            <a:spLocks noGrp="1"/>
          </p:cNvSpPr>
          <p:nvPr>
            <p:ph sz="half" idx="1"/>
          </p:nvPr>
        </p:nvSpPr>
        <p:spPr>
          <a:xfrm>
            <a:off x="628650" y="1136856"/>
            <a:ext cx="3515263" cy="573191"/>
          </a:xfrm>
          <a:ln>
            <a:solidFill>
              <a:schemeClr val="tx1"/>
            </a:solidFill>
          </a:ln>
        </p:spPr>
        <p:txBody>
          <a:bodyPr>
            <a:normAutofit fontScale="77500" lnSpcReduction="20000"/>
          </a:bodyPr>
          <a:lstStyle/>
          <a:p>
            <a:pPr marL="0" indent="0">
              <a:buNone/>
            </a:pPr>
            <a:r>
              <a:rPr lang="en-US" sz="1900" b="1" dirty="0">
                <a:latin typeface="Arial Narrow" panose="020B0604020202020204" pitchFamily="34" charset="0"/>
                <a:cs typeface="Arial Narrow" panose="020B0604020202020204" pitchFamily="34" charset="0"/>
              </a:rPr>
              <a:t>1 &amp; 3. Population = 10,000,000, </a:t>
            </a:r>
            <a:r>
              <a:rPr lang="en-US" sz="1900" b="1" dirty="0" err="1">
                <a:latin typeface="Arial Narrow" panose="020B0604020202020204" pitchFamily="34" charset="0"/>
                <a:cs typeface="Arial Narrow" panose="020B0604020202020204" pitchFamily="34" charset="0"/>
              </a:rPr>
              <a:t>df</a:t>
            </a:r>
            <a:r>
              <a:rPr lang="en-US" sz="1900" b="1" dirty="0">
                <a:latin typeface="Arial Narrow" panose="020B0604020202020204" pitchFamily="34" charset="0"/>
                <a:cs typeface="Arial Narrow" panose="020B0604020202020204" pitchFamily="34" charset="0"/>
              </a:rPr>
              <a:t> = 2; </a:t>
            </a:r>
            <a:r>
              <a:rPr lang="en-US" sz="1900" b="1" dirty="0" err="1">
                <a:latin typeface="Arial Narrow" panose="020B0604020202020204" pitchFamily="34" charset="0"/>
                <a:cs typeface="Arial Narrow" panose="020B0604020202020204" pitchFamily="34" charset="0"/>
              </a:rPr>
              <a:t>df</a:t>
            </a:r>
            <a:r>
              <a:rPr lang="en-US" sz="1900" b="1" dirty="0">
                <a:latin typeface="Arial Narrow" panose="020B0604020202020204" pitchFamily="34" charset="0"/>
                <a:cs typeface="Arial Narrow" panose="020B0604020202020204" pitchFamily="34" charset="0"/>
              </a:rPr>
              <a:t> indicates a right skewed population; standard deviation and means</a:t>
            </a:r>
          </a:p>
          <a:p>
            <a:pPr marL="0" indent="0">
              <a:buNone/>
            </a:pPr>
            <a:endParaRPr lang="en-US" sz="1600" b="1" dirty="0">
              <a:latin typeface="Arial Narrow" panose="020B0604020202020204" pitchFamily="34" charset="0"/>
              <a:cs typeface="Arial Narrow" panose="020B060402020202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55CF5030-C1FA-40E4-DDC4-FACC4857086A}"/>
              </a:ext>
            </a:extLst>
          </p:cNvPr>
          <p:cNvPicPr>
            <a:picLocks noChangeAspect="1"/>
          </p:cNvPicPr>
          <p:nvPr/>
        </p:nvPicPr>
        <p:blipFill>
          <a:blip r:embed="rId3"/>
          <a:stretch>
            <a:fillRect/>
          </a:stretch>
        </p:blipFill>
        <p:spPr>
          <a:xfrm>
            <a:off x="4379772" y="1136856"/>
            <a:ext cx="4371437" cy="2692400"/>
          </a:xfrm>
          <a:prstGeom prst="rect">
            <a:avLst/>
          </a:prstGeom>
          <a:ln>
            <a:solidFill>
              <a:schemeClr val="tx1"/>
            </a:solidFill>
          </a:ln>
        </p:spPr>
      </p:pic>
      <p:sp>
        <p:nvSpPr>
          <p:cNvPr id="7" name="Content Placeholder 2">
            <a:extLst>
              <a:ext uri="{FF2B5EF4-FFF2-40B4-BE49-F238E27FC236}">
                <a16:creationId xmlns:a16="http://schemas.microsoft.com/office/drawing/2014/main" id="{C6AAC269-E306-261D-9C05-CAE74B08E2FA}"/>
              </a:ext>
            </a:extLst>
          </p:cNvPr>
          <p:cNvSpPr txBox="1">
            <a:spLocks/>
          </p:cNvSpPr>
          <p:nvPr/>
        </p:nvSpPr>
        <p:spPr>
          <a:xfrm>
            <a:off x="685800" y="4115583"/>
            <a:ext cx="3458688" cy="430687"/>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latin typeface="Arial Narrow" panose="020B0604020202020204" pitchFamily="34" charset="0"/>
                <a:cs typeface="Arial Narrow" panose="020B0604020202020204" pitchFamily="34" charset="0"/>
              </a:rPr>
              <a:t>2.    Draw a histogram of the population</a:t>
            </a:r>
          </a:p>
        </p:txBody>
      </p:sp>
      <p:pic>
        <p:nvPicPr>
          <p:cNvPr id="9" name="Picture 8" descr="A screenshot of a graph&#10;&#10;AI-generated content may be incorrect.">
            <a:extLst>
              <a:ext uri="{FF2B5EF4-FFF2-40B4-BE49-F238E27FC236}">
                <a16:creationId xmlns:a16="http://schemas.microsoft.com/office/drawing/2014/main" id="{66C2F9C2-6F13-3A76-A41C-87DD184F2428}"/>
              </a:ext>
            </a:extLst>
          </p:cNvPr>
          <p:cNvPicPr>
            <a:picLocks noChangeAspect="1"/>
          </p:cNvPicPr>
          <p:nvPr/>
        </p:nvPicPr>
        <p:blipFill>
          <a:blip r:embed="rId4"/>
          <a:stretch>
            <a:fillRect/>
          </a:stretch>
        </p:blipFill>
        <p:spPr>
          <a:xfrm>
            <a:off x="4393869" y="3995506"/>
            <a:ext cx="4381500" cy="2785300"/>
          </a:xfrm>
          <a:prstGeom prst="rect">
            <a:avLst/>
          </a:prstGeom>
          <a:ln>
            <a:solidFill>
              <a:schemeClr val="tx1"/>
            </a:solidFill>
          </a:ln>
        </p:spPr>
      </p:pic>
    </p:spTree>
    <p:extLst>
      <p:ext uri="{BB962C8B-B14F-4D97-AF65-F5344CB8AC3E}">
        <p14:creationId xmlns:p14="http://schemas.microsoft.com/office/powerpoint/2010/main" val="2768267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14634-DBF6-55C5-FBFA-B3C75C5ED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728D6-04D9-6E26-0DAC-4A66B5F01E50}"/>
              </a:ext>
            </a:extLst>
          </p:cNvPr>
          <p:cNvSpPr>
            <a:spLocks noGrp="1"/>
          </p:cNvSpPr>
          <p:nvPr>
            <p:ph type="title"/>
          </p:nvPr>
        </p:nvSpPr>
        <p:spPr>
          <a:xfrm>
            <a:off x="628650" y="20744"/>
            <a:ext cx="7886700" cy="1325563"/>
          </a:xfrm>
        </p:spPr>
        <p:txBody>
          <a:bodyPr/>
          <a:lstStyle/>
          <a:p>
            <a:r>
              <a:rPr lang="en-US" dirty="0"/>
              <a:t>2. CLT code modification</a:t>
            </a:r>
          </a:p>
        </p:txBody>
      </p:sp>
      <p:sp>
        <p:nvSpPr>
          <p:cNvPr id="3" name="Content Placeholder 2">
            <a:extLst>
              <a:ext uri="{FF2B5EF4-FFF2-40B4-BE49-F238E27FC236}">
                <a16:creationId xmlns:a16="http://schemas.microsoft.com/office/drawing/2014/main" id="{F3925D01-DC81-9FA7-9ECF-296CF81A47D1}"/>
              </a:ext>
            </a:extLst>
          </p:cNvPr>
          <p:cNvSpPr>
            <a:spLocks noGrp="1"/>
          </p:cNvSpPr>
          <p:nvPr>
            <p:ph sz="half" idx="1"/>
          </p:nvPr>
        </p:nvSpPr>
        <p:spPr>
          <a:xfrm>
            <a:off x="628650" y="1124981"/>
            <a:ext cx="3515263" cy="1060079"/>
          </a:xfrm>
          <a:ln>
            <a:solidFill>
              <a:schemeClr val="tx1"/>
            </a:solidFill>
          </a:ln>
        </p:spPr>
        <p:txBody>
          <a:bodyPr>
            <a:noAutofit/>
          </a:bodyPr>
          <a:lstStyle/>
          <a:p>
            <a:pPr marL="0" indent="0">
              <a:buNone/>
            </a:pPr>
            <a:r>
              <a:rPr lang="en-US" sz="1400" b="1" dirty="0">
                <a:latin typeface="Arial Narrow" panose="020B0604020202020204" pitchFamily="34" charset="0"/>
                <a:cs typeface="Arial Narrow" panose="020B0604020202020204" pitchFamily="34" charset="0"/>
              </a:rPr>
              <a:t>4. According to the Central Limit theorem a sample size of 50 should be large enough to demonstrate a normal distribution around a mean of 2. The standard measure of error = .283</a:t>
            </a:r>
          </a:p>
        </p:txBody>
      </p:sp>
      <p:pic>
        <p:nvPicPr>
          <p:cNvPr id="10" name="Picture 9" descr="A screenshot of a computer&#10;&#10;AI-generated content may be incorrect.">
            <a:extLst>
              <a:ext uri="{FF2B5EF4-FFF2-40B4-BE49-F238E27FC236}">
                <a16:creationId xmlns:a16="http://schemas.microsoft.com/office/drawing/2014/main" id="{C0677598-7720-777E-CE15-C1513595FF59}"/>
              </a:ext>
            </a:extLst>
          </p:cNvPr>
          <p:cNvPicPr>
            <a:picLocks noChangeAspect="1"/>
          </p:cNvPicPr>
          <p:nvPr/>
        </p:nvPicPr>
        <p:blipFill>
          <a:blip r:embed="rId3"/>
          <a:stretch>
            <a:fillRect/>
          </a:stretch>
        </p:blipFill>
        <p:spPr>
          <a:xfrm>
            <a:off x="4393869" y="1124981"/>
            <a:ext cx="3467100" cy="850900"/>
          </a:xfrm>
          <a:prstGeom prst="rect">
            <a:avLst/>
          </a:prstGeom>
          <a:ln>
            <a:solidFill>
              <a:schemeClr val="tx1"/>
            </a:solidFill>
          </a:ln>
        </p:spPr>
      </p:pic>
      <p:sp>
        <p:nvSpPr>
          <p:cNvPr id="11" name="Content Placeholder 2">
            <a:extLst>
              <a:ext uri="{FF2B5EF4-FFF2-40B4-BE49-F238E27FC236}">
                <a16:creationId xmlns:a16="http://schemas.microsoft.com/office/drawing/2014/main" id="{9B0D5DD3-8AD0-AC73-A78B-F36ADF1D1DCB}"/>
              </a:ext>
            </a:extLst>
          </p:cNvPr>
          <p:cNvSpPr txBox="1">
            <a:spLocks/>
          </p:cNvSpPr>
          <p:nvPr/>
        </p:nvSpPr>
        <p:spPr>
          <a:xfrm>
            <a:off x="628650" y="2443348"/>
            <a:ext cx="3515263" cy="1060079"/>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latin typeface="Arial Narrow" panose="020B0604020202020204" pitchFamily="34" charset="0"/>
                <a:cs typeface="Arial Narrow" panose="020B0604020202020204" pitchFamily="34" charset="0"/>
              </a:rPr>
              <a:t>5 &amp; 6. 10,000 samples of size 50, draw a histogram and provide the sample mean and sample standard deviation.</a:t>
            </a:r>
          </a:p>
        </p:txBody>
      </p:sp>
      <p:pic>
        <p:nvPicPr>
          <p:cNvPr id="13" name="Picture 12" descr="A screenshot of a computer&#10;&#10;AI-generated content may be incorrect.">
            <a:extLst>
              <a:ext uri="{FF2B5EF4-FFF2-40B4-BE49-F238E27FC236}">
                <a16:creationId xmlns:a16="http://schemas.microsoft.com/office/drawing/2014/main" id="{AD0F2445-E6BF-C459-BCAC-2F045BBA8511}"/>
              </a:ext>
            </a:extLst>
          </p:cNvPr>
          <p:cNvPicPr>
            <a:picLocks noChangeAspect="1"/>
          </p:cNvPicPr>
          <p:nvPr/>
        </p:nvPicPr>
        <p:blipFill>
          <a:blip r:embed="rId4"/>
          <a:stretch>
            <a:fillRect/>
          </a:stretch>
        </p:blipFill>
        <p:spPr>
          <a:xfrm>
            <a:off x="4393046" y="2407393"/>
            <a:ext cx="4192813" cy="3416300"/>
          </a:xfrm>
          <a:prstGeom prst="rect">
            <a:avLst/>
          </a:prstGeom>
        </p:spPr>
      </p:pic>
    </p:spTree>
    <p:extLst>
      <p:ext uri="{BB962C8B-B14F-4D97-AF65-F5344CB8AC3E}">
        <p14:creationId xmlns:p14="http://schemas.microsoft.com/office/powerpoint/2010/main" val="2253039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2107B-E69B-E0A0-E624-1E762E769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CBFEF-D706-4655-DEA8-0969EC9E9A9A}"/>
              </a:ext>
            </a:extLst>
          </p:cNvPr>
          <p:cNvSpPr>
            <a:spLocks noGrp="1"/>
          </p:cNvSpPr>
          <p:nvPr>
            <p:ph type="title"/>
          </p:nvPr>
        </p:nvSpPr>
        <p:spPr>
          <a:xfrm>
            <a:off x="628650" y="20744"/>
            <a:ext cx="7886700" cy="1325563"/>
          </a:xfrm>
        </p:spPr>
        <p:txBody>
          <a:bodyPr/>
          <a:lstStyle/>
          <a:p>
            <a:r>
              <a:rPr lang="en-US" dirty="0"/>
              <a:t>2. CLT code modification</a:t>
            </a:r>
          </a:p>
        </p:txBody>
      </p:sp>
      <p:sp>
        <p:nvSpPr>
          <p:cNvPr id="11" name="Content Placeholder 2">
            <a:extLst>
              <a:ext uri="{FF2B5EF4-FFF2-40B4-BE49-F238E27FC236}">
                <a16:creationId xmlns:a16="http://schemas.microsoft.com/office/drawing/2014/main" id="{D6B01F88-6A06-58F5-F8ED-E5EFF994852F}"/>
              </a:ext>
            </a:extLst>
          </p:cNvPr>
          <p:cNvSpPr txBox="1">
            <a:spLocks/>
          </p:cNvSpPr>
          <p:nvPr/>
        </p:nvSpPr>
        <p:spPr>
          <a:xfrm>
            <a:off x="628650" y="1125187"/>
            <a:ext cx="3515263" cy="1060079"/>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latin typeface="Arial Narrow" panose="020B0604020202020204" pitchFamily="34" charset="0"/>
                <a:cs typeface="Arial Narrow" panose="020B0604020202020204" pitchFamily="34" charset="0"/>
              </a:rPr>
              <a:t>5 &amp; 6. 10,000 samples of size 50, draw a histogram and provide the sample mean and sample standard deviation.</a:t>
            </a:r>
          </a:p>
        </p:txBody>
      </p:sp>
      <p:pic>
        <p:nvPicPr>
          <p:cNvPr id="7" name="Picture 6" descr="A screenshot of a graph&#10;&#10;AI-generated content may be incorrect.">
            <a:extLst>
              <a:ext uri="{FF2B5EF4-FFF2-40B4-BE49-F238E27FC236}">
                <a16:creationId xmlns:a16="http://schemas.microsoft.com/office/drawing/2014/main" id="{E9A1F207-332E-750F-6C01-BD2552199ED8}"/>
              </a:ext>
            </a:extLst>
          </p:cNvPr>
          <p:cNvPicPr>
            <a:picLocks noChangeAspect="1"/>
          </p:cNvPicPr>
          <p:nvPr/>
        </p:nvPicPr>
        <p:blipFill>
          <a:blip r:embed="rId3"/>
          <a:stretch>
            <a:fillRect/>
          </a:stretch>
        </p:blipFill>
        <p:spPr>
          <a:xfrm>
            <a:off x="4302331" y="1129580"/>
            <a:ext cx="4648200" cy="4165600"/>
          </a:xfrm>
          <a:prstGeom prst="rect">
            <a:avLst/>
          </a:prstGeom>
          <a:ln>
            <a:solidFill>
              <a:schemeClr val="tx1"/>
            </a:solidFill>
          </a:ln>
        </p:spPr>
      </p:pic>
    </p:spTree>
    <p:extLst>
      <p:ext uri="{BB962C8B-B14F-4D97-AF65-F5344CB8AC3E}">
        <p14:creationId xmlns:p14="http://schemas.microsoft.com/office/powerpoint/2010/main" val="4060093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329C-8172-4068-0101-B94133384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E4095-6245-C56F-09A4-A25F711750DD}"/>
              </a:ext>
            </a:extLst>
          </p:cNvPr>
          <p:cNvSpPr>
            <a:spLocks noGrp="1"/>
          </p:cNvSpPr>
          <p:nvPr>
            <p:ph type="title"/>
          </p:nvPr>
        </p:nvSpPr>
        <p:spPr>
          <a:xfrm>
            <a:off x="628649" y="20744"/>
            <a:ext cx="8147215" cy="1325563"/>
          </a:xfrm>
        </p:spPr>
        <p:txBody>
          <a:bodyPr/>
          <a:lstStyle/>
          <a:p>
            <a:r>
              <a:rPr lang="en-US" dirty="0"/>
              <a:t>3. CLT code modification by ChatGPT 5.2</a:t>
            </a:r>
          </a:p>
        </p:txBody>
      </p:sp>
      <p:sp>
        <p:nvSpPr>
          <p:cNvPr id="5" name="TextBox 4">
            <a:extLst>
              <a:ext uri="{FF2B5EF4-FFF2-40B4-BE49-F238E27FC236}">
                <a16:creationId xmlns:a16="http://schemas.microsoft.com/office/drawing/2014/main" id="{39B69B90-57AF-0BF8-D1B9-7945F98FD29A}"/>
              </a:ext>
            </a:extLst>
          </p:cNvPr>
          <p:cNvSpPr txBox="1"/>
          <p:nvPr/>
        </p:nvSpPr>
        <p:spPr>
          <a:xfrm>
            <a:off x="712519" y="1365664"/>
            <a:ext cx="7802089" cy="646331"/>
          </a:xfrm>
          <a:prstGeom prst="rect">
            <a:avLst/>
          </a:prstGeom>
          <a:noFill/>
        </p:spPr>
        <p:txBody>
          <a:bodyPr wrap="square" rtlCol="0">
            <a:spAutoFit/>
          </a:bodyPr>
          <a:lstStyle/>
          <a:p>
            <a:r>
              <a:rPr lang="en-US" dirty="0"/>
              <a:t>ChatGPT5.2 uses functions including a custom function to draw the histograms as well as a replicate() function to create the calculations and histograms.</a:t>
            </a:r>
          </a:p>
        </p:txBody>
      </p:sp>
      <p:pic>
        <p:nvPicPr>
          <p:cNvPr id="8" name="Picture 7" descr="A screenshot of a computer&#10;&#10;AI-generated content may be incorrect.">
            <a:extLst>
              <a:ext uri="{FF2B5EF4-FFF2-40B4-BE49-F238E27FC236}">
                <a16:creationId xmlns:a16="http://schemas.microsoft.com/office/drawing/2014/main" id="{15565F76-1C04-1DCF-1039-57C759ACE133}"/>
              </a:ext>
            </a:extLst>
          </p:cNvPr>
          <p:cNvPicPr>
            <a:picLocks noChangeAspect="1"/>
          </p:cNvPicPr>
          <p:nvPr/>
        </p:nvPicPr>
        <p:blipFill>
          <a:blip r:embed="rId3"/>
          <a:stretch>
            <a:fillRect/>
          </a:stretch>
        </p:blipFill>
        <p:spPr>
          <a:xfrm>
            <a:off x="819397" y="2213874"/>
            <a:ext cx="6812726" cy="4460058"/>
          </a:xfrm>
          <a:prstGeom prst="rect">
            <a:avLst/>
          </a:prstGeom>
          <a:ln>
            <a:solidFill>
              <a:schemeClr val="tx1"/>
            </a:solidFill>
          </a:ln>
        </p:spPr>
      </p:pic>
    </p:spTree>
    <p:extLst>
      <p:ext uri="{BB962C8B-B14F-4D97-AF65-F5344CB8AC3E}">
        <p14:creationId xmlns:p14="http://schemas.microsoft.com/office/powerpoint/2010/main" val="81483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08A19-5F28-E18E-3F26-28E5D4DD7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3D840-6E9C-C405-1DAF-A30DE3464E3A}"/>
              </a:ext>
            </a:extLst>
          </p:cNvPr>
          <p:cNvSpPr>
            <a:spLocks noGrp="1"/>
          </p:cNvSpPr>
          <p:nvPr>
            <p:ph type="title"/>
          </p:nvPr>
        </p:nvSpPr>
        <p:spPr>
          <a:xfrm>
            <a:off x="628649" y="20744"/>
            <a:ext cx="8147215" cy="1325563"/>
          </a:xfrm>
        </p:spPr>
        <p:txBody>
          <a:bodyPr/>
          <a:lstStyle/>
          <a:p>
            <a:r>
              <a:rPr lang="en-US" dirty="0"/>
              <a:t>3. CLT code modification by ChatGPT 5.2</a:t>
            </a:r>
          </a:p>
        </p:txBody>
      </p:sp>
      <p:sp>
        <p:nvSpPr>
          <p:cNvPr id="5" name="TextBox 4">
            <a:extLst>
              <a:ext uri="{FF2B5EF4-FFF2-40B4-BE49-F238E27FC236}">
                <a16:creationId xmlns:a16="http://schemas.microsoft.com/office/drawing/2014/main" id="{A75361CF-8CCE-54C5-9AE2-A3C2929810A8}"/>
              </a:ext>
            </a:extLst>
          </p:cNvPr>
          <p:cNvSpPr txBox="1"/>
          <p:nvPr/>
        </p:nvSpPr>
        <p:spPr>
          <a:xfrm>
            <a:off x="712519" y="1436918"/>
            <a:ext cx="7802089" cy="646331"/>
          </a:xfrm>
          <a:prstGeom prst="rect">
            <a:avLst/>
          </a:prstGeom>
          <a:noFill/>
        </p:spPr>
        <p:txBody>
          <a:bodyPr wrap="square" rtlCol="0">
            <a:spAutoFit/>
          </a:bodyPr>
          <a:lstStyle/>
          <a:p>
            <a:r>
              <a:rPr lang="en-US" dirty="0"/>
              <a:t>ChatGPT5.2 is cleaner with the depiction of the histogram trimming values shown for the population in the first histogram.</a:t>
            </a:r>
          </a:p>
        </p:txBody>
      </p:sp>
      <p:pic>
        <p:nvPicPr>
          <p:cNvPr id="4" name="Picture 3" descr="A graph of a person with a graph&#10;&#10;AI-generated content may be incorrect.">
            <a:extLst>
              <a:ext uri="{FF2B5EF4-FFF2-40B4-BE49-F238E27FC236}">
                <a16:creationId xmlns:a16="http://schemas.microsoft.com/office/drawing/2014/main" id="{459CE0CA-DC2D-19C8-3F6F-11B4D6921FC0}"/>
              </a:ext>
            </a:extLst>
          </p:cNvPr>
          <p:cNvPicPr>
            <a:picLocks noChangeAspect="1"/>
          </p:cNvPicPr>
          <p:nvPr/>
        </p:nvPicPr>
        <p:blipFill>
          <a:blip r:embed="rId3"/>
          <a:stretch>
            <a:fillRect/>
          </a:stretch>
        </p:blipFill>
        <p:spPr>
          <a:xfrm>
            <a:off x="1622713" y="2328553"/>
            <a:ext cx="5981700" cy="4267200"/>
          </a:xfrm>
          <a:prstGeom prst="rect">
            <a:avLst/>
          </a:prstGeom>
          <a:ln>
            <a:solidFill>
              <a:schemeClr val="tx1"/>
            </a:solidFill>
          </a:ln>
        </p:spPr>
      </p:pic>
    </p:spTree>
    <p:extLst>
      <p:ext uri="{BB962C8B-B14F-4D97-AF65-F5344CB8AC3E}">
        <p14:creationId xmlns:p14="http://schemas.microsoft.com/office/powerpoint/2010/main" val="1934013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D26BE-1F49-DE39-6321-D973BCB5B1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2C5E0-AFC7-F722-459D-7081E7276BB8}"/>
              </a:ext>
            </a:extLst>
          </p:cNvPr>
          <p:cNvSpPr>
            <a:spLocks noGrp="1"/>
          </p:cNvSpPr>
          <p:nvPr>
            <p:ph type="title"/>
          </p:nvPr>
        </p:nvSpPr>
        <p:spPr>
          <a:xfrm>
            <a:off x="628649" y="20744"/>
            <a:ext cx="8147215" cy="1325563"/>
          </a:xfrm>
        </p:spPr>
        <p:txBody>
          <a:bodyPr/>
          <a:lstStyle/>
          <a:p>
            <a:r>
              <a:rPr lang="en-US" dirty="0"/>
              <a:t>3. CLT code modification by ChatGPT 5.2</a:t>
            </a:r>
          </a:p>
        </p:txBody>
      </p:sp>
      <p:pic>
        <p:nvPicPr>
          <p:cNvPr id="6" name="Picture 5" descr="A screenshot of a computer&#10;&#10;AI-generated content may be incorrect.">
            <a:extLst>
              <a:ext uri="{FF2B5EF4-FFF2-40B4-BE49-F238E27FC236}">
                <a16:creationId xmlns:a16="http://schemas.microsoft.com/office/drawing/2014/main" id="{4A337324-BF97-EAB8-73C7-54BDD145260D}"/>
              </a:ext>
            </a:extLst>
          </p:cNvPr>
          <p:cNvPicPr>
            <a:picLocks noChangeAspect="1"/>
          </p:cNvPicPr>
          <p:nvPr/>
        </p:nvPicPr>
        <p:blipFill>
          <a:blip r:embed="rId3"/>
          <a:stretch>
            <a:fillRect/>
          </a:stretch>
        </p:blipFill>
        <p:spPr>
          <a:xfrm>
            <a:off x="1511300" y="1569110"/>
            <a:ext cx="6121400" cy="4432300"/>
          </a:xfrm>
          <a:prstGeom prst="rect">
            <a:avLst/>
          </a:prstGeom>
          <a:ln>
            <a:solidFill>
              <a:schemeClr val="tx1"/>
            </a:solidFill>
          </a:ln>
        </p:spPr>
      </p:pic>
    </p:spTree>
    <p:extLst>
      <p:ext uri="{BB962C8B-B14F-4D97-AF65-F5344CB8AC3E}">
        <p14:creationId xmlns:p14="http://schemas.microsoft.com/office/powerpoint/2010/main" val="1502764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5978A-0C98-0D61-540B-3AB90BA07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7E1CA-EC59-7EDD-EE1D-99D6A8B5BAE3}"/>
              </a:ext>
            </a:extLst>
          </p:cNvPr>
          <p:cNvSpPr>
            <a:spLocks noGrp="1"/>
          </p:cNvSpPr>
          <p:nvPr>
            <p:ph type="title"/>
          </p:nvPr>
        </p:nvSpPr>
        <p:spPr>
          <a:xfrm>
            <a:off x="628649" y="20744"/>
            <a:ext cx="8147215" cy="1325563"/>
          </a:xfrm>
        </p:spPr>
        <p:txBody>
          <a:bodyPr/>
          <a:lstStyle/>
          <a:p>
            <a:r>
              <a:rPr lang="en-US" dirty="0"/>
              <a:t>3. CLT code modification by ChatGPT 5.2</a:t>
            </a:r>
          </a:p>
        </p:txBody>
      </p:sp>
      <p:pic>
        <p:nvPicPr>
          <p:cNvPr id="4" name="Picture 3" descr="A screenshot of a computer screen&#10;&#10;AI-generated content may be incorrect.">
            <a:extLst>
              <a:ext uri="{FF2B5EF4-FFF2-40B4-BE49-F238E27FC236}">
                <a16:creationId xmlns:a16="http://schemas.microsoft.com/office/drawing/2014/main" id="{C34E04FB-60CE-4146-58F4-41C690E1C975}"/>
              </a:ext>
            </a:extLst>
          </p:cNvPr>
          <p:cNvPicPr>
            <a:picLocks noChangeAspect="1"/>
          </p:cNvPicPr>
          <p:nvPr/>
        </p:nvPicPr>
        <p:blipFill>
          <a:blip r:embed="rId3"/>
          <a:stretch>
            <a:fillRect/>
          </a:stretch>
        </p:blipFill>
        <p:spPr>
          <a:xfrm>
            <a:off x="1403350" y="1346307"/>
            <a:ext cx="6337300" cy="5295900"/>
          </a:xfrm>
          <a:prstGeom prst="rect">
            <a:avLst/>
          </a:prstGeom>
          <a:ln>
            <a:solidFill>
              <a:schemeClr val="tx1"/>
            </a:solidFill>
          </a:ln>
        </p:spPr>
      </p:pic>
    </p:spTree>
    <p:extLst>
      <p:ext uri="{BB962C8B-B14F-4D97-AF65-F5344CB8AC3E}">
        <p14:creationId xmlns:p14="http://schemas.microsoft.com/office/powerpoint/2010/main" val="3650568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457200" y="274638"/>
            <a:ext cx="8488245" cy="785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dirty="0"/>
              <a:t>4 Hypothesis Test</a:t>
            </a:r>
            <a:endParaRPr lang="en-US" altLang="en-US" dirty="0"/>
          </a:p>
        </p:txBody>
      </p:sp>
      <p:sp>
        <p:nvSpPr>
          <p:cNvPr id="23555" name="Rectangle 3"/>
          <p:cNvSpPr>
            <a:spLocks noGrp="1" noChangeArrowheads="1"/>
          </p:cNvSpPr>
          <p:nvPr>
            <p:ph type="body" idx="1"/>
          </p:nvPr>
        </p:nvSpPr>
        <p:spPr bwMode="auto">
          <a:xfrm>
            <a:off x="240030" y="3770313"/>
            <a:ext cx="8652510" cy="28971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Font typeface="Wingdings" pitchFamily="2" charset="2"/>
              <a:buNone/>
            </a:pPr>
            <a:r>
              <a:rPr lang="en-US" altLang="en-US" sz="2400" dirty="0"/>
              <a:t>The following are ages of 7 randomly chosen patrons seen leaving the Beach Comber in South Mission Beach at 7pm!  We assume that the data come from a normal distribution and would like to test the claim that the mean age of the distribution of Comber patrons is different than 21.  Conduct a 6 step hypothesis test to test this claim.  </a:t>
            </a:r>
          </a:p>
          <a:p>
            <a:pPr algn="ctr" eaLnBrk="1" hangingPunct="1">
              <a:lnSpc>
                <a:spcPct val="90000"/>
              </a:lnSpc>
              <a:buFont typeface="Wingdings" pitchFamily="2" charset="2"/>
              <a:buNone/>
            </a:pPr>
            <a:r>
              <a:rPr lang="en-US" altLang="en-US" sz="2400" dirty="0"/>
              <a:t>	</a:t>
            </a:r>
            <a:r>
              <a:rPr lang="en-US" altLang="en-US" sz="3200" dirty="0"/>
              <a:t>25, 19, 37, 29, 40, 28, 31</a:t>
            </a:r>
          </a:p>
        </p:txBody>
      </p:sp>
      <p:pic>
        <p:nvPicPr>
          <p:cNvPr id="23556" name="Picture 5" descr="beachcomb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595" y="994112"/>
            <a:ext cx="7957892"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5069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C0480-1E1D-7E93-A783-63E6B0975DEF}"/>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E0C793F4-18FB-2EF6-067E-3B8C37C501EE}"/>
              </a:ext>
            </a:extLst>
          </p:cNvPr>
          <p:cNvSpPr>
            <a:spLocks noGrp="1" noChangeArrowheads="1"/>
          </p:cNvSpPr>
          <p:nvPr>
            <p:ph type="title"/>
          </p:nvPr>
        </p:nvSpPr>
        <p:spPr bwMode="auto">
          <a:xfrm>
            <a:off x="457200" y="274638"/>
            <a:ext cx="8488245" cy="785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dirty="0"/>
              <a:t>4 Hypothesis Test</a:t>
            </a:r>
            <a:endParaRPr lang="en-US" altLang="en-US" dirty="0"/>
          </a:p>
        </p:txBody>
      </p:sp>
      <p:sp>
        <p:nvSpPr>
          <p:cNvPr id="3" name="TextBox 2">
            <a:extLst>
              <a:ext uri="{FF2B5EF4-FFF2-40B4-BE49-F238E27FC236}">
                <a16:creationId xmlns:a16="http://schemas.microsoft.com/office/drawing/2014/main" id="{17B1D805-1F73-0D8E-D55B-38CFD2D623A7}"/>
              </a:ext>
            </a:extLst>
          </p:cNvPr>
          <p:cNvSpPr txBox="1"/>
          <p:nvPr/>
        </p:nvSpPr>
        <p:spPr>
          <a:xfrm>
            <a:off x="676894" y="1045035"/>
            <a:ext cx="7802089" cy="369332"/>
          </a:xfrm>
          <a:prstGeom prst="rect">
            <a:avLst/>
          </a:prstGeom>
          <a:noFill/>
        </p:spPr>
        <p:txBody>
          <a:bodyPr wrap="square" rtlCol="0">
            <a:spAutoFit/>
          </a:bodyPr>
          <a:lstStyle/>
          <a:p>
            <a:r>
              <a:rPr lang="en-US" dirty="0"/>
              <a:t>6 step hypothesis t-test. </a:t>
            </a:r>
            <a:r>
              <a:rPr lang="en-US" dirty="0" err="1"/>
              <a:t>H_o</a:t>
            </a:r>
            <a:r>
              <a:rPr lang="en-US" dirty="0"/>
              <a:t> = 21. </a:t>
            </a:r>
            <a:r>
              <a:rPr lang="en-US" dirty="0" err="1"/>
              <a:t>H_a</a:t>
            </a:r>
            <a:r>
              <a:rPr lang="en-US" dirty="0"/>
              <a:t> != 21. This creates a two-tailed test.</a:t>
            </a:r>
          </a:p>
        </p:txBody>
      </p:sp>
      <p:pic>
        <p:nvPicPr>
          <p:cNvPr id="5" name="Picture 4" descr="A screenshot of a test&#10;&#10;AI-generated content may be incorrect.">
            <a:extLst>
              <a:ext uri="{FF2B5EF4-FFF2-40B4-BE49-F238E27FC236}">
                <a16:creationId xmlns:a16="http://schemas.microsoft.com/office/drawing/2014/main" id="{2A195748-33BD-A30A-1910-C0845B35815D}"/>
              </a:ext>
            </a:extLst>
          </p:cNvPr>
          <p:cNvPicPr>
            <a:picLocks noChangeAspect="1"/>
          </p:cNvPicPr>
          <p:nvPr/>
        </p:nvPicPr>
        <p:blipFill>
          <a:blip r:embed="rId2"/>
          <a:stretch>
            <a:fillRect/>
          </a:stretch>
        </p:blipFill>
        <p:spPr>
          <a:xfrm>
            <a:off x="546265" y="1503336"/>
            <a:ext cx="7772400" cy="5354664"/>
          </a:xfrm>
          <a:prstGeom prst="rect">
            <a:avLst/>
          </a:prstGeom>
          <a:ln>
            <a:solidFill>
              <a:schemeClr val="tx1"/>
            </a:solidFill>
          </a:ln>
        </p:spPr>
      </p:pic>
    </p:spTree>
    <p:extLst>
      <p:ext uri="{BB962C8B-B14F-4D97-AF65-F5344CB8AC3E}">
        <p14:creationId xmlns:p14="http://schemas.microsoft.com/office/powerpoint/2010/main" val="1619519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45021-2BB7-8C4F-37EC-27BC32B770FC}"/>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0A1B3A32-7952-165D-CFF2-BECA96EF7C35}"/>
              </a:ext>
            </a:extLst>
          </p:cNvPr>
          <p:cNvSpPr>
            <a:spLocks noGrp="1" noChangeArrowheads="1"/>
          </p:cNvSpPr>
          <p:nvPr>
            <p:ph type="title"/>
          </p:nvPr>
        </p:nvSpPr>
        <p:spPr bwMode="auto">
          <a:xfrm>
            <a:off x="457200" y="274638"/>
            <a:ext cx="8488245" cy="785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dirty="0"/>
              <a:t>4 Hypothesis Test</a:t>
            </a:r>
            <a:endParaRPr lang="en-US" altLang="en-US" dirty="0"/>
          </a:p>
        </p:txBody>
      </p:sp>
      <p:sp>
        <p:nvSpPr>
          <p:cNvPr id="3" name="TextBox 2">
            <a:extLst>
              <a:ext uri="{FF2B5EF4-FFF2-40B4-BE49-F238E27FC236}">
                <a16:creationId xmlns:a16="http://schemas.microsoft.com/office/drawing/2014/main" id="{AAB4BCCD-55EF-E762-E480-663BEE48E8C1}"/>
              </a:ext>
            </a:extLst>
          </p:cNvPr>
          <p:cNvSpPr txBox="1"/>
          <p:nvPr/>
        </p:nvSpPr>
        <p:spPr>
          <a:xfrm>
            <a:off x="676894" y="1045035"/>
            <a:ext cx="7802089" cy="369332"/>
          </a:xfrm>
          <a:prstGeom prst="rect">
            <a:avLst/>
          </a:prstGeom>
          <a:noFill/>
        </p:spPr>
        <p:txBody>
          <a:bodyPr wrap="square" rtlCol="0">
            <a:spAutoFit/>
          </a:bodyPr>
          <a:lstStyle/>
          <a:p>
            <a:r>
              <a:rPr lang="en-US" dirty="0"/>
              <a:t>6 step hypothesis t-test. </a:t>
            </a:r>
            <a:r>
              <a:rPr lang="en-US" dirty="0" err="1"/>
              <a:t>H_o</a:t>
            </a:r>
            <a:r>
              <a:rPr lang="en-US" dirty="0"/>
              <a:t> = 21. </a:t>
            </a:r>
            <a:r>
              <a:rPr lang="en-US" dirty="0" err="1"/>
              <a:t>H_a</a:t>
            </a:r>
            <a:r>
              <a:rPr lang="en-US" dirty="0"/>
              <a:t> != 21. This creates a two-tailed test.</a:t>
            </a:r>
          </a:p>
        </p:txBody>
      </p:sp>
      <p:pic>
        <p:nvPicPr>
          <p:cNvPr id="4" name="Picture 3" descr="A screenshot of a computer&#10;&#10;AI-generated content may be incorrect.">
            <a:extLst>
              <a:ext uri="{FF2B5EF4-FFF2-40B4-BE49-F238E27FC236}">
                <a16:creationId xmlns:a16="http://schemas.microsoft.com/office/drawing/2014/main" id="{2BD206B2-1687-983F-28C7-99B3325B5B2E}"/>
              </a:ext>
            </a:extLst>
          </p:cNvPr>
          <p:cNvPicPr>
            <a:picLocks noChangeAspect="1"/>
          </p:cNvPicPr>
          <p:nvPr/>
        </p:nvPicPr>
        <p:blipFill>
          <a:blip r:embed="rId2"/>
          <a:stretch>
            <a:fillRect/>
          </a:stretch>
        </p:blipFill>
        <p:spPr>
          <a:xfrm>
            <a:off x="926277" y="1414367"/>
            <a:ext cx="7772400" cy="5307067"/>
          </a:xfrm>
          <a:prstGeom prst="rect">
            <a:avLst/>
          </a:prstGeom>
        </p:spPr>
      </p:pic>
    </p:spTree>
    <p:extLst>
      <p:ext uri="{BB962C8B-B14F-4D97-AF65-F5344CB8AC3E}">
        <p14:creationId xmlns:p14="http://schemas.microsoft.com/office/powerpoint/2010/main" val="2174093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AEDFC-1EA6-3703-7261-D4F8BEAC2810}"/>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8A4D8DC6-B8A3-7918-05DB-276705555A8F}"/>
              </a:ext>
            </a:extLst>
          </p:cNvPr>
          <p:cNvSpPr>
            <a:spLocks noGrp="1" noChangeArrowheads="1"/>
          </p:cNvSpPr>
          <p:nvPr>
            <p:ph type="title"/>
          </p:nvPr>
        </p:nvSpPr>
        <p:spPr bwMode="auto">
          <a:xfrm>
            <a:off x="457200" y="274638"/>
            <a:ext cx="8488245" cy="785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dirty="0"/>
              <a:t>4 Hypothesis Test</a:t>
            </a:r>
            <a:endParaRPr lang="en-US" altLang="en-US" dirty="0"/>
          </a:p>
        </p:txBody>
      </p:sp>
      <p:sp>
        <p:nvSpPr>
          <p:cNvPr id="3" name="TextBox 2">
            <a:extLst>
              <a:ext uri="{FF2B5EF4-FFF2-40B4-BE49-F238E27FC236}">
                <a16:creationId xmlns:a16="http://schemas.microsoft.com/office/drawing/2014/main" id="{487A4CDC-4113-E762-4723-58A8F1298EC9}"/>
              </a:ext>
            </a:extLst>
          </p:cNvPr>
          <p:cNvSpPr txBox="1"/>
          <p:nvPr/>
        </p:nvSpPr>
        <p:spPr>
          <a:xfrm>
            <a:off x="676894" y="1045035"/>
            <a:ext cx="7802089" cy="369332"/>
          </a:xfrm>
          <a:prstGeom prst="rect">
            <a:avLst/>
          </a:prstGeom>
          <a:noFill/>
        </p:spPr>
        <p:txBody>
          <a:bodyPr wrap="square" rtlCol="0">
            <a:spAutoFit/>
          </a:bodyPr>
          <a:lstStyle/>
          <a:p>
            <a:r>
              <a:rPr lang="en-US" dirty="0"/>
              <a:t>6 step hypothesis t-test. </a:t>
            </a:r>
            <a:r>
              <a:rPr lang="en-US" dirty="0" err="1"/>
              <a:t>H_o</a:t>
            </a:r>
            <a:r>
              <a:rPr lang="en-US" dirty="0"/>
              <a:t> = 21. </a:t>
            </a:r>
            <a:r>
              <a:rPr lang="en-US" dirty="0" err="1"/>
              <a:t>H_a</a:t>
            </a:r>
            <a:r>
              <a:rPr lang="en-US" dirty="0"/>
              <a:t> != 21. This creates a two-tailed test.</a:t>
            </a:r>
          </a:p>
        </p:txBody>
      </p:sp>
      <p:pic>
        <p:nvPicPr>
          <p:cNvPr id="9" name="Picture 8" descr="A screenshot of a test&#10;&#10;AI-generated content may be incorrect.">
            <a:extLst>
              <a:ext uri="{FF2B5EF4-FFF2-40B4-BE49-F238E27FC236}">
                <a16:creationId xmlns:a16="http://schemas.microsoft.com/office/drawing/2014/main" id="{370CCD6E-CA9E-651A-240B-70B906A17CA2}"/>
              </a:ext>
            </a:extLst>
          </p:cNvPr>
          <p:cNvPicPr>
            <a:picLocks noChangeAspect="1"/>
          </p:cNvPicPr>
          <p:nvPr/>
        </p:nvPicPr>
        <p:blipFill>
          <a:blip r:embed="rId2"/>
          <a:stretch>
            <a:fillRect/>
          </a:stretch>
        </p:blipFill>
        <p:spPr>
          <a:xfrm>
            <a:off x="593766" y="1574108"/>
            <a:ext cx="7772400" cy="4889486"/>
          </a:xfrm>
          <a:prstGeom prst="rect">
            <a:avLst/>
          </a:prstGeom>
          <a:ln>
            <a:solidFill>
              <a:schemeClr val="tx1"/>
            </a:solidFill>
          </a:ln>
        </p:spPr>
      </p:pic>
    </p:spTree>
    <p:extLst>
      <p:ext uri="{BB962C8B-B14F-4D97-AF65-F5344CB8AC3E}">
        <p14:creationId xmlns:p14="http://schemas.microsoft.com/office/powerpoint/2010/main" val="155666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E4FA7-937B-E942-7C0C-86F5D680638A}"/>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24A76DBC-2A77-EAE9-5EEE-E46E093CED40}"/>
              </a:ext>
            </a:extLst>
          </p:cNvPr>
          <p:cNvSpPr>
            <a:spLocks noGrp="1" noChangeArrowheads="1"/>
          </p:cNvSpPr>
          <p:nvPr>
            <p:ph type="title"/>
          </p:nvPr>
        </p:nvSpPr>
        <p:spPr bwMode="auto">
          <a:xfrm>
            <a:off x="457200" y="274638"/>
            <a:ext cx="8488245" cy="785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dirty="0"/>
              <a:t>5 Key takeaways</a:t>
            </a:r>
            <a:endParaRPr lang="en-US" altLang="en-US" dirty="0"/>
          </a:p>
        </p:txBody>
      </p:sp>
      <p:sp>
        <p:nvSpPr>
          <p:cNvPr id="3" name="TextBox 2">
            <a:extLst>
              <a:ext uri="{FF2B5EF4-FFF2-40B4-BE49-F238E27FC236}">
                <a16:creationId xmlns:a16="http://schemas.microsoft.com/office/drawing/2014/main" id="{F7F790C4-5FFB-F032-BC7A-34ABBE5401EE}"/>
              </a:ext>
            </a:extLst>
          </p:cNvPr>
          <p:cNvSpPr txBox="1"/>
          <p:nvPr/>
        </p:nvSpPr>
        <p:spPr>
          <a:xfrm>
            <a:off x="676894" y="1045035"/>
            <a:ext cx="7802089" cy="3416320"/>
          </a:xfrm>
          <a:prstGeom prst="rect">
            <a:avLst/>
          </a:prstGeom>
          <a:noFill/>
        </p:spPr>
        <p:txBody>
          <a:bodyPr wrap="square" rtlCol="0">
            <a:spAutoFit/>
          </a:bodyPr>
          <a:lstStyle/>
          <a:p>
            <a:r>
              <a:rPr lang="en-US" dirty="0"/>
              <a:t>Central Limit Theorem:</a:t>
            </a:r>
          </a:p>
          <a:p>
            <a:pPr marL="342900" indent="-342900">
              <a:buAutoNum type="arabicPeriod"/>
            </a:pPr>
            <a:r>
              <a:rPr lang="en-US" dirty="0"/>
              <a:t>Did quite a bit of research to understand the value of using the central limit theorem to understand trends in data. </a:t>
            </a:r>
          </a:p>
          <a:p>
            <a:pPr marL="342900" indent="-342900">
              <a:buAutoNum type="arabicPeriod"/>
            </a:pPr>
            <a:r>
              <a:rPr lang="en-US" dirty="0"/>
              <a:t>Lots of value in being able to have a smaller set of data to work with.</a:t>
            </a:r>
          </a:p>
          <a:p>
            <a:pPr marL="342900" indent="-342900">
              <a:buAutoNum type="arabicPeriod"/>
            </a:pPr>
            <a:r>
              <a:rPr lang="en-US" dirty="0"/>
              <a:t>I understand the use of </a:t>
            </a:r>
            <a:r>
              <a:rPr lang="en-US" dirty="0" err="1"/>
              <a:t>rchisq</a:t>
            </a:r>
            <a:r>
              <a:rPr lang="en-US" dirty="0"/>
              <a:t>() for right skewed data. Is there ever a case where the CLT would have a left skewed model? I read that the </a:t>
            </a:r>
            <a:r>
              <a:rPr lang="en-US" dirty="0" err="1"/>
              <a:t>df</a:t>
            </a:r>
            <a:r>
              <a:rPr lang="en-US" dirty="0"/>
              <a:t> cannot be negative so don’t understand how that would work or if it would even have value.</a:t>
            </a:r>
          </a:p>
          <a:p>
            <a:pPr marL="342900" indent="-342900">
              <a:buAutoNum type="arabicPeriod"/>
            </a:pPr>
            <a:endParaRPr lang="en-US" dirty="0"/>
          </a:p>
          <a:p>
            <a:r>
              <a:rPr lang="en-US" dirty="0"/>
              <a:t>Hypothesis Testing:</a:t>
            </a:r>
          </a:p>
          <a:p>
            <a:r>
              <a:rPr lang="en-US" dirty="0"/>
              <a:t>1. This one gave me a great chance to go back and use the materials in the bridge course to conduct a two-tailed test. </a:t>
            </a:r>
          </a:p>
        </p:txBody>
      </p:sp>
    </p:spTree>
    <p:extLst>
      <p:ext uri="{BB962C8B-B14F-4D97-AF65-F5344CB8AC3E}">
        <p14:creationId xmlns:p14="http://schemas.microsoft.com/office/powerpoint/2010/main" val="2748957201"/>
      </p:ext>
    </p:extLst>
  </p:cSld>
  <p:clrMapOvr>
    <a:masterClrMapping/>
  </p:clrMapOvr>
</p:sld>
</file>

<file path=ppt/theme/theme1.xml><?xml version="1.0" encoding="utf-8"?>
<a:theme xmlns:a="http://schemas.openxmlformats.org/drawingml/2006/main" name="2U">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U" id="{366B8B3C-2D30-EF4C-945A-9C2F0CDF465A}" vid="{BACFCB83-49E5-4846-9BF9-7818E6FE7F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2U</Template>
  <TotalTime>11389</TotalTime>
  <Words>2316</Words>
  <Application>Microsoft Macintosh PowerPoint</Application>
  <PresentationFormat>On-screen Show (4:3)</PresentationFormat>
  <Paragraphs>101</Paragraphs>
  <Slides>16</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Arial Narrow</vt:lpstr>
      <vt:lpstr>Calibri</vt:lpstr>
      <vt:lpstr>Calibri Light</vt:lpstr>
      <vt:lpstr>Wingdings</vt:lpstr>
      <vt:lpstr>2U</vt:lpstr>
      <vt:lpstr>DDS For Live Session </vt:lpstr>
      <vt:lpstr>Philosophy Due at 1pm CST the day of live session.</vt:lpstr>
      <vt:lpstr>For Live Session: Unit 1 Due at 1pm CST the day of live session.</vt:lpstr>
      <vt:lpstr>1. Data Science Profile</vt:lpstr>
      <vt:lpstr>2. CLT code modification</vt:lpstr>
      <vt:lpstr>2. CLT code modification</vt:lpstr>
      <vt:lpstr>2. CLT code modification</vt:lpstr>
      <vt:lpstr>3. CLT code modification by ChatGPT 5.2</vt:lpstr>
      <vt:lpstr>3. CLT code modification by ChatGPT 5.2</vt:lpstr>
      <vt:lpstr>3. CLT code modification by ChatGPT 5.2</vt:lpstr>
      <vt:lpstr>3. CLT code modification by ChatGPT 5.2</vt:lpstr>
      <vt:lpstr>4 Hypothesis Test</vt:lpstr>
      <vt:lpstr>4 Hypothesis Test</vt:lpstr>
      <vt:lpstr>4 Hypothesis Test</vt:lpstr>
      <vt:lpstr>4 Hypothesis Test</vt:lpstr>
      <vt:lpstr>5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 Live Session </dc:title>
  <dc:creator>Microsoft Office User</dc:creator>
  <cp:lastModifiedBy>Diane Roberts</cp:lastModifiedBy>
  <cp:revision>21</cp:revision>
  <cp:lastPrinted>2026-01-07T19:21:56Z</cp:lastPrinted>
  <dcterms:created xsi:type="dcterms:W3CDTF">2019-08-17T23:42:25Z</dcterms:created>
  <dcterms:modified xsi:type="dcterms:W3CDTF">2026-01-08T18:57:12Z</dcterms:modified>
</cp:coreProperties>
</file>